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0" y="0"/>
            <a:ext cx="1673352" cy="1097280"/>
          </a:xfrm>
          <a:prstGeom prst="rect">
            <a:avLst/>
          </a:prstGeom>
          <a:solidFill>
            <a:srgbClr val="13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0"/>
            <a:ext cx="1216152" cy="548640"/>
          </a:xfrm>
          <a:prstGeom prst="rect">
            <a:avLst/>
          </a:prstGeom>
          <a:solidFill>
            <a:srgbClr val="0E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0" y="548640"/>
            <a:ext cx="5788152" cy="347472"/>
          </a:xfrm>
          <a:prstGeom prst="rect">
            <a:avLst/>
          </a:prstGeom>
          <a:solidFill>
            <a:srgbClr val="1E3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548640"/>
            <a:ext cx="5788152" cy="347472"/>
          </a:xfrm>
          <a:prstGeom prst="rect">
            <a:avLst/>
          </a:prstGeom>
          <a:noFill/>
        </p:spPr>
        <p:txBody>
          <a:bodyPr wrap="square">
            <a:spAutoFit/>
          </a:bodyPr>
          <a:lstStyle/>
          <a:p>
            <a:pPr algn="ctr"/>
            <a:r>
              <a:rPr sz="1100" b="1" i="0">
                <a:solidFill>
                  <a:srgbClr val="60A5FA"/>
                </a:solidFill>
                <a:latin typeface="Calibri"/>
              </a:rPr>
              <a:t>🎓  BÁO CÁO BÀI TẬP LỚN  •  TRÍ TUỆ NHÂN TẠO</a:t>
            </a:r>
          </a:p>
        </p:txBody>
      </p:sp>
      <p:sp>
        <p:nvSpPr>
          <p:cNvPr id="7" name="TextBox 6"/>
          <p:cNvSpPr txBox="1"/>
          <p:nvPr/>
        </p:nvSpPr>
        <p:spPr>
          <a:xfrm>
            <a:off x="548640" y="1097280"/>
            <a:ext cx="11091672" cy="685800"/>
          </a:xfrm>
          <a:prstGeom prst="rect">
            <a:avLst/>
          </a:prstGeom>
          <a:noFill/>
        </p:spPr>
        <p:txBody>
          <a:bodyPr wrap="square">
            <a:spAutoFit/>
          </a:bodyPr>
          <a:lstStyle/>
          <a:p>
            <a:pPr algn="ctr"/>
            <a:r>
              <a:rPr sz="3400" b="1" i="0">
                <a:solidFill>
                  <a:srgbClr val="FFFFFF"/>
                </a:solidFill>
                <a:latin typeface="Calibri"/>
              </a:rPr>
              <a:t>Tối ưu hóa Lộ trình Giao hàng Trong Đô thị</a:t>
            </a:r>
          </a:p>
        </p:txBody>
      </p:sp>
      <p:sp>
        <p:nvSpPr>
          <p:cNvPr id="8" name="TextBox 7"/>
          <p:cNvSpPr txBox="1"/>
          <p:nvPr/>
        </p:nvSpPr>
        <p:spPr>
          <a:xfrm>
            <a:off x="548640" y="1737360"/>
            <a:ext cx="11091672" cy="594360"/>
          </a:xfrm>
          <a:prstGeom prst="rect">
            <a:avLst/>
          </a:prstGeom>
          <a:noFill/>
        </p:spPr>
        <p:txBody>
          <a:bodyPr wrap="square">
            <a:spAutoFit/>
          </a:bodyPr>
          <a:lstStyle/>
          <a:p>
            <a:pPr algn="ctr"/>
            <a:r>
              <a:rPr sz="3000" b="1" i="0">
                <a:solidFill>
                  <a:srgbClr val="60A5FA"/>
                </a:solidFill>
                <a:latin typeface="Calibri"/>
              </a:rPr>
              <a:t>sử dụng Thuật toán Simulated Annealing</a:t>
            </a:r>
          </a:p>
        </p:txBody>
      </p:sp>
      <p:sp>
        <p:nvSpPr>
          <p:cNvPr id="9" name="Rectangle 8"/>
          <p:cNvSpPr/>
          <p:nvPr/>
        </p:nvSpPr>
        <p:spPr>
          <a:xfrm>
            <a:off x="4937760" y="2423160"/>
            <a:ext cx="2313432"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60320"/>
            <a:ext cx="11091672" cy="365760"/>
          </a:xfrm>
          <a:prstGeom prst="rect">
            <a:avLst/>
          </a:prstGeom>
          <a:noFill/>
        </p:spPr>
        <p:txBody>
          <a:bodyPr wrap="square">
            <a:spAutoFit/>
          </a:bodyPr>
          <a:lstStyle/>
          <a:p>
            <a:pPr algn="ctr"/>
            <a:r>
              <a:rPr sz="1400" b="0" i="1">
                <a:solidFill>
                  <a:srgbClr val="94A3B8"/>
                </a:solidFill>
                <a:latin typeface="Calibri"/>
              </a:rPr>
              <a:t>Dự án: Master Delivery  •  Bài toán TSP ứng dụng thực tiễn tại TP.HCM</a:t>
            </a:r>
          </a:p>
        </p:txBody>
      </p:sp>
      <p:sp>
        <p:nvSpPr>
          <p:cNvPr id="11" name="Rectangle 10"/>
          <p:cNvSpPr/>
          <p:nvPr/>
        </p:nvSpPr>
        <p:spPr>
          <a:xfrm>
            <a:off x="457200" y="3108960"/>
            <a:ext cx="3200400" cy="12801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82112"/>
            <a:ext cx="3017520" cy="274320"/>
          </a:xfrm>
          <a:prstGeom prst="rect">
            <a:avLst/>
          </a:prstGeom>
          <a:noFill/>
        </p:spPr>
        <p:txBody>
          <a:bodyPr wrap="square">
            <a:spAutoFit/>
          </a:bodyPr>
          <a:lstStyle/>
          <a:p>
            <a:pPr algn="l"/>
            <a:r>
              <a:rPr sz="900" b="1" i="0">
                <a:solidFill>
                  <a:srgbClr val="60A5FA"/>
                </a:solidFill>
                <a:latin typeface="Calibri"/>
              </a:rPr>
              <a:t>👥  NHÓM THỰC HIỆN</a:t>
            </a:r>
          </a:p>
        </p:txBody>
      </p:sp>
      <p:sp>
        <p:nvSpPr>
          <p:cNvPr id="13" name="TextBox 12"/>
          <p:cNvSpPr txBox="1"/>
          <p:nvPr/>
        </p:nvSpPr>
        <p:spPr>
          <a:xfrm>
            <a:off x="548640" y="3456432"/>
            <a:ext cx="3017520" cy="914400"/>
          </a:xfrm>
          <a:prstGeom prst="rect">
            <a:avLst/>
          </a:prstGeom>
          <a:noFill/>
        </p:spPr>
        <p:txBody>
          <a:bodyPr wrap="square">
            <a:spAutoFit/>
          </a:bodyPr>
          <a:lstStyle/>
          <a:p>
            <a:pPr>
              <a:spcBef>
                <a:spcPts val="300"/>
              </a:spcBef>
            </a:pPr>
            <a:r>
              <a:rPr sz="1200" b="0">
                <a:solidFill>
                  <a:srgbClr val="FFFFFF"/>
                </a:solidFill>
                <a:latin typeface="Calibri"/>
              </a:rPr>
              <a:t>Nguyễn Văn A  —  MSSV: 12345678</a:t>
            </a:r>
          </a:p>
          <a:p>
            <a:pPr>
              <a:spcBef>
                <a:spcPts val="300"/>
              </a:spcBef>
            </a:pPr>
            <a:r>
              <a:rPr sz="1200" b="0">
                <a:solidFill>
                  <a:srgbClr val="FFFFFF"/>
                </a:solidFill>
                <a:latin typeface="Calibri"/>
              </a:rPr>
              <a:t>Trần Thị B  —  MSSV: 12345679</a:t>
            </a:r>
          </a:p>
          <a:p>
            <a:pPr>
              <a:spcBef>
                <a:spcPts val="300"/>
              </a:spcBef>
            </a:pPr>
            <a:r>
              <a:rPr sz="1200" b="0">
                <a:solidFill>
                  <a:srgbClr val="FFFFFF"/>
                </a:solidFill>
                <a:latin typeface="Calibri"/>
              </a:rPr>
              <a:t>Lê Văn C  —  MSSV: 12345680</a:t>
            </a:r>
          </a:p>
        </p:txBody>
      </p:sp>
      <p:sp>
        <p:nvSpPr>
          <p:cNvPr id="14" name="Rectangle 13"/>
          <p:cNvSpPr/>
          <p:nvPr/>
        </p:nvSpPr>
        <p:spPr>
          <a:xfrm>
            <a:off x="3886200" y="3108960"/>
            <a:ext cx="3200400" cy="12801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77639" y="3182112"/>
            <a:ext cx="3017520" cy="274320"/>
          </a:xfrm>
          <a:prstGeom prst="rect">
            <a:avLst/>
          </a:prstGeom>
          <a:noFill/>
        </p:spPr>
        <p:txBody>
          <a:bodyPr wrap="square">
            <a:spAutoFit/>
          </a:bodyPr>
          <a:lstStyle/>
          <a:p>
            <a:pPr algn="l"/>
            <a:r>
              <a:rPr sz="900" b="1" i="0">
                <a:solidFill>
                  <a:srgbClr val="60A5FA"/>
                </a:solidFill>
                <a:latin typeface="Calibri"/>
              </a:rPr>
              <a:t>🎓  GIẢNG VIÊN HƯỚNG DẪN</a:t>
            </a:r>
          </a:p>
        </p:txBody>
      </p:sp>
      <p:sp>
        <p:nvSpPr>
          <p:cNvPr id="16" name="TextBox 15"/>
          <p:cNvSpPr txBox="1"/>
          <p:nvPr/>
        </p:nvSpPr>
        <p:spPr>
          <a:xfrm>
            <a:off x="3977639" y="3456432"/>
            <a:ext cx="3017520" cy="914400"/>
          </a:xfrm>
          <a:prstGeom prst="rect">
            <a:avLst/>
          </a:prstGeom>
          <a:noFill/>
        </p:spPr>
        <p:txBody>
          <a:bodyPr wrap="square">
            <a:spAutoFit/>
          </a:bodyPr>
          <a:lstStyle/>
          <a:p>
            <a:pPr>
              <a:spcBef>
                <a:spcPts val="300"/>
              </a:spcBef>
            </a:pPr>
            <a:r>
              <a:rPr sz="1300" b="1">
                <a:solidFill>
                  <a:srgbClr val="FFFFFF"/>
                </a:solidFill>
                <a:latin typeface="Calibri"/>
              </a:rPr>
              <a:t>TS. Nguyễn Thị D</a:t>
            </a:r>
          </a:p>
          <a:p>
            <a:pPr>
              <a:spcBef>
                <a:spcPts val="300"/>
              </a:spcBef>
            </a:pPr>
            <a:r>
              <a:rPr sz="1200" b="0">
                <a:solidFill>
                  <a:srgbClr val="94A3B8"/>
                </a:solidFill>
                <a:latin typeface="Calibri"/>
              </a:rPr>
              <a:t>Khoa Công nghệ Thông tin</a:t>
            </a:r>
          </a:p>
          <a:p>
            <a:pPr>
              <a:spcBef>
                <a:spcPts val="300"/>
              </a:spcBef>
            </a:pPr>
            <a:r>
              <a:rPr sz="1200" b="0">
                <a:solidFill>
                  <a:srgbClr val="94A3B8"/>
                </a:solidFill>
                <a:latin typeface="Calibri"/>
              </a:rPr>
              <a:t>Năm học 2024 – 2025</a:t>
            </a:r>
          </a:p>
        </p:txBody>
      </p:sp>
      <p:sp>
        <p:nvSpPr>
          <p:cNvPr id="17" name="Rectangle 16"/>
          <p:cNvSpPr/>
          <p:nvPr/>
        </p:nvSpPr>
        <p:spPr>
          <a:xfrm>
            <a:off x="7315200" y="3108960"/>
            <a:ext cx="4416552" cy="12801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3182112"/>
            <a:ext cx="4206240" cy="274320"/>
          </a:xfrm>
          <a:prstGeom prst="rect">
            <a:avLst/>
          </a:prstGeom>
          <a:noFill/>
        </p:spPr>
        <p:txBody>
          <a:bodyPr wrap="square">
            <a:spAutoFit/>
          </a:bodyPr>
          <a:lstStyle/>
          <a:p>
            <a:pPr algn="l"/>
            <a:r>
              <a:rPr sz="900" b="1" i="0">
                <a:solidFill>
                  <a:srgbClr val="60A5FA"/>
                </a:solidFill>
                <a:latin typeface="Calibri"/>
              </a:rPr>
              <a:t>🏫  ĐƠN VỊ &amp; THỜI GIAN</a:t>
            </a:r>
          </a:p>
        </p:txBody>
      </p:sp>
      <p:sp>
        <p:nvSpPr>
          <p:cNvPr id="19" name="TextBox 18"/>
          <p:cNvSpPr txBox="1"/>
          <p:nvPr/>
        </p:nvSpPr>
        <p:spPr>
          <a:xfrm>
            <a:off x="7406640" y="3456432"/>
            <a:ext cx="4206240" cy="914400"/>
          </a:xfrm>
          <a:prstGeom prst="rect">
            <a:avLst/>
          </a:prstGeom>
          <a:noFill/>
        </p:spPr>
        <p:txBody>
          <a:bodyPr wrap="square">
            <a:spAutoFit/>
          </a:bodyPr>
          <a:lstStyle/>
          <a:p>
            <a:pPr>
              <a:spcBef>
                <a:spcPts val="300"/>
              </a:spcBef>
            </a:pPr>
            <a:r>
              <a:rPr sz="1200" b="0">
                <a:solidFill>
                  <a:srgbClr val="FFFFFF"/>
                </a:solidFill>
                <a:latin typeface="Calibri"/>
              </a:rPr>
              <a:t>Trường Đại học / Học viện ...</a:t>
            </a:r>
          </a:p>
          <a:p>
            <a:pPr>
              <a:spcBef>
                <a:spcPts val="300"/>
              </a:spcBef>
            </a:pPr>
            <a:r>
              <a:rPr sz="1200" b="0">
                <a:solidFill>
                  <a:srgbClr val="94A3B8"/>
                </a:solidFill>
                <a:latin typeface="Calibri"/>
              </a:rPr>
              <a:t>Khoa / Bộ môn ...</a:t>
            </a:r>
          </a:p>
          <a:p>
            <a:pPr>
              <a:spcBef>
                <a:spcPts val="300"/>
              </a:spcBef>
            </a:pPr>
            <a:r>
              <a:rPr sz="1200" b="0">
                <a:solidFill>
                  <a:srgbClr val="94A3B8"/>
                </a:solidFill>
                <a:latin typeface="Calibri"/>
              </a:rPr>
              <a:t>Ngày báo cáo: 15/04/2026  •  HK2, 2024–2025</a:t>
            </a:r>
          </a:p>
        </p:txBody>
      </p:sp>
      <p:sp>
        <p:nvSpPr>
          <p:cNvPr id="20" name="Rectangle 19"/>
          <p:cNvSpPr/>
          <p:nvPr/>
        </p:nvSpPr>
        <p:spPr>
          <a:xfrm>
            <a:off x="0" y="6400800"/>
            <a:ext cx="12188952" cy="45720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46520"/>
            <a:ext cx="11274552" cy="347472"/>
          </a:xfrm>
          <a:prstGeom prst="rect">
            <a:avLst/>
          </a:prstGeom>
          <a:noFill/>
        </p:spPr>
        <p:txBody>
          <a:bodyPr wrap="square">
            <a:spAutoFit/>
          </a:bodyPr>
          <a:lstStyle/>
          <a:p>
            <a:pPr algn="ctr"/>
            <a:r>
              <a:rPr sz="1100" b="0" i="0">
                <a:solidFill>
                  <a:srgbClr val="4A6AA0"/>
                </a:solidFill>
                <a:latin typeface="Calibri"/>
              </a:rPr>
              <a:t>Master Delivery  •  TSP Optimization  •  AI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Nội dung Báo cáo</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MỤC LỤC</a:t>
            </a:r>
          </a:p>
        </p:txBody>
      </p:sp>
      <p:sp>
        <p:nvSpPr>
          <p:cNvPr id="7" name="Rectangle 6"/>
          <p:cNvSpPr/>
          <p:nvPr/>
        </p:nvSpPr>
        <p:spPr>
          <a:xfrm>
            <a:off x="457200" y="1325880"/>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00200"/>
            <a:ext cx="411480" cy="502920"/>
          </a:xfrm>
          <a:prstGeom prst="rect">
            <a:avLst/>
          </a:prstGeom>
          <a:noFill/>
        </p:spPr>
        <p:txBody>
          <a:bodyPr wrap="square">
            <a:spAutoFit/>
          </a:bodyPr>
          <a:lstStyle/>
          <a:p>
            <a:pPr algn="ctr"/>
            <a:r>
              <a:rPr sz="1400" b="1" i="0">
                <a:solidFill>
                  <a:srgbClr val="FFFFFF"/>
                </a:solidFill>
                <a:latin typeface="Calibri"/>
              </a:rPr>
              <a:t>01</a:t>
            </a:r>
          </a:p>
        </p:txBody>
      </p:sp>
      <p:sp>
        <p:nvSpPr>
          <p:cNvPr id="10" name="TextBox 9"/>
          <p:cNvSpPr txBox="1"/>
          <p:nvPr/>
        </p:nvSpPr>
        <p:spPr>
          <a:xfrm>
            <a:off x="960120" y="1417320"/>
            <a:ext cx="5074920" cy="384048"/>
          </a:xfrm>
          <a:prstGeom prst="rect">
            <a:avLst/>
          </a:prstGeom>
          <a:noFill/>
        </p:spPr>
        <p:txBody>
          <a:bodyPr wrap="square">
            <a:spAutoFit/>
          </a:bodyPr>
          <a:lstStyle/>
          <a:p>
            <a:pPr algn="l"/>
            <a:r>
              <a:rPr sz="1300" b="1" i="0">
                <a:solidFill>
                  <a:srgbClr val="FFFFFF"/>
                </a:solidFill>
                <a:latin typeface="Calibri"/>
              </a:rPr>
              <a:t>Đặt vấn đề &amp; Động lực nghiên cứu</a:t>
            </a:r>
          </a:p>
        </p:txBody>
      </p:sp>
      <p:sp>
        <p:nvSpPr>
          <p:cNvPr id="11" name="TextBox 10"/>
          <p:cNvSpPr txBox="1"/>
          <p:nvPr/>
        </p:nvSpPr>
        <p:spPr>
          <a:xfrm>
            <a:off x="960120" y="1783080"/>
            <a:ext cx="5074920" cy="566928"/>
          </a:xfrm>
          <a:prstGeom prst="rect">
            <a:avLst/>
          </a:prstGeom>
          <a:noFill/>
        </p:spPr>
        <p:txBody>
          <a:bodyPr wrap="square">
            <a:spAutoFit/>
          </a:bodyPr>
          <a:lstStyle/>
          <a:p>
            <a:pPr algn="l"/>
            <a:r>
              <a:rPr sz="1100" b="0" i="0">
                <a:solidFill>
                  <a:srgbClr val="94A3B8"/>
                </a:solidFill>
                <a:latin typeface="Calibri"/>
              </a:rPr>
              <a:t>Thực trạng giao hàng đô thị, bùng nổ số lượng điểm giao.</a:t>
            </a:r>
          </a:p>
        </p:txBody>
      </p:sp>
      <p:sp>
        <p:nvSpPr>
          <p:cNvPr id="12" name="Rectangle 11"/>
          <p:cNvSpPr/>
          <p:nvPr/>
        </p:nvSpPr>
        <p:spPr>
          <a:xfrm>
            <a:off x="6309360" y="1325880"/>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325880"/>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600200"/>
            <a:ext cx="411480" cy="502920"/>
          </a:xfrm>
          <a:prstGeom prst="rect">
            <a:avLst/>
          </a:prstGeom>
          <a:noFill/>
        </p:spPr>
        <p:txBody>
          <a:bodyPr wrap="square">
            <a:spAutoFit/>
          </a:bodyPr>
          <a:lstStyle/>
          <a:p>
            <a:pPr algn="ctr"/>
            <a:r>
              <a:rPr sz="1400" b="1" i="0">
                <a:solidFill>
                  <a:srgbClr val="FFFFFF"/>
                </a:solidFill>
                <a:latin typeface="Calibri"/>
              </a:rPr>
              <a:t>02</a:t>
            </a:r>
          </a:p>
        </p:txBody>
      </p:sp>
      <p:sp>
        <p:nvSpPr>
          <p:cNvPr id="15" name="TextBox 14"/>
          <p:cNvSpPr txBox="1"/>
          <p:nvPr/>
        </p:nvSpPr>
        <p:spPr>
          <a:xfrm>
            <a:off x="6812280" y="1417320"/>
            <a:ext cx="5074920" cy="384048"/>
          </a:xfrm>
          <a:prstGeom prst="rect">
            <a:avLst/>
          </a:prstGeom>
          <a:noFill/>
        </p:spPr>
        <p:txBody>
          <a:bodyPr wrap="square">
            <a:spAutoFit/>
          </a:bodyPr>
          <a:lstStyle/>
          <a:p>
            <a:pPr algn="l"/>
            <a:r>
              <a:rPr sz="1300" b="1" i="0">
                <a:solidFill>
                  <a:srgbClr val="FFFFFF"/>
                </a:solidFill>
                <a:latin typeface="Calibri"/>
              </a:rPr>
              <a:t>Bài toán TSP</a:t>
            </a:r>
          </a:p>
        </p:txBody>
      </p:sp>
      <p:sp>
        <p:nvSpPr>
          <p:cNvPr id="16" name="TextBox 15"/>
          <p:cNvSpPr txBox="1"/>
          <p:nvPr/>
        </p:nvSpPr>
        <p:spPr>
          <a:xfrm>
            <a:off x="6812280" y="1783080"/>
            <a:ext cx="5074920" cy="566928"/>
          </a:xfrm>
          <a:prstGeom prst="rect">
            <a:avLst/>
          </a:prstGeom>
          <a:noFill/>
        </p:spPr>
        <p:txBody>
          <a:bodyPr wrap="square">
            <a:spAutoFit/>
          </a:bodyPr>
          <a:lstStyle/>
          <a:p>
            <a:pPr algn="l"/>
            <a:r>
              <a:rPr sz="1100" b="0" i="0">
                <a:solidFill>
                  <a:srgbClr val="94A3B8"/>
                </a:solidFill>
                <a:latin typeface="Calibri"/>
              </a:rPr>
              <a:t>Định nghĩa, độ phức tạp NP-Hard, tại sao cần heuristic.</a:t>
            </a:r>
          </a:p>
        </p:txBody>
      </p:sp>
      <p:sp>
        <p:nvSpPr>
          <p:cNvPr id="17" name="Rectangle 16"/>
          <p:cNvSpPr/>
          <p:nvPr/>
        </p:nvSpPr>
        <p:spPr>
          <a:xfrm>
            <a:off x="457200" y="2587752"/>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587752"/>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862072"/>
            <a:ext cx="411480" cy="502920"/>
          </a:xfrm>
          <a:prstGeom prst="rect">
            <a:avLst/>
          </a:prstGeom>
          <a:noFill/>
        </p:spPr>
        <p:txBody>
          <a:bodyPr wrap="square">
            <a:spAutoFit/>
          </a:bodyPr>
          <a:lstStyle/>
          <a:p>
            <a:pPr algn="ctr"/>
            <a:r>
              <a:rPr sz="1400" b="1" i="0">
                <a:solidFill>
                  <a:srgbClr val="FFFFFF"/>
                </a:solidFill>
                <a:latin typeface="Calibri"/>
              </a:rPr>
              <a:t>03</a:t>
            </a:r>
          </a:p>
        </p:txBody>
      </p:sp>
      <p:sp>
        <p:nvSpPr>
          <p:cNvPr id="20" name="TextBox 19"/>
          <p:cNvSpPr txBox="1"/>
          <p:nvPr/>
        </p:nvSpPr>
        <p:spPr>
          <a:xfrm>
            <a:off x="960120" y="2679192"/>
            <a:ext cx="5074920" cy="384048"/>
          </a:xfrm>
          <a:prstGeom prst="rect">
            <a:avLst/>
          </a:prstGeom>
          <a:noFill/>
        </p:spPr>
        <p:txBody>
          <a:bodyPr wrap="square">
            <a:spAutoFit/>
          </a:bodyPr>
          <a:lstStyle/>
          <a:p>
            <a:pPr algn="l"/>
            <a:r>
              <a:rPr sz="1300" b="1" i="0">
                <a:solidFill>
                  <a:srgbClr val="FFFFFF"/>
                </a:solidFill>
                <a:latin typeface="Calibri"/>
              </a:rPr>
              <a:t>Giải thuật Simulated Annealing</a:t>
            </a:r>
          </a:p>
        </p:txBody>
      </p:sp>
      <p:sp>
        <p:nvSpPr>
          <p:cNvPr id="21" name="TextBox 20"/>
          <p:cNvSpPr txBox="1"/>
          <p:nvPr/>
        </p:nvSpPr>
        <p:spPr>
          <a:xfrm>
            <a:off x="960120" y="3044952"/>
            <a:ext cx="5074920" cy="566928"/>
          </a:xfrm>
          <a:prstGeom prst="rect">
            <a:avLst/>
          </a:prstGeom>
          <a:noFill/>
        </p:spPr>
        <p:txBody>
          <a:bodyPr wrap="square">
            <a:spAutoFit/>
          </a:bodyPr>
          <a:lstStyle/>
          <a:p>
            <a:pPr algn="l"/>
            <a:r>
              <a:rPr sz="1100" b="0" i="0">
                <a:solidFill>
                  <a:srgbClr val="94A3B8"/>
                </a:solidFill>
                <a:latin typeface="Calibri"/>
              </a:rPr>
              <a:t>Nguyên lý luyện kim, tham số, cơ chế xác suất chấp nhận.</a:t>
            </a:r>
          </a:p>
        </p:txBody>
      </p:sp>
      <p:sp>
        <p:nvSpPr>
          <p:cNvPr id="22" name="Rectangle 21"/>
          <p:cNvSpPr/>
          <p:nvPr/>
        </p:nvSpPr>
        <p:spPr>
          <a:xfrm>
            <a:off x="6309360" y="2587752"/>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2587752"/>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862072"/>
            <a:ext cx="411480" cy="502920"/>
          </a:xfrm>
          <a:prstGeom prst="rect">
            <a:avLst/>
          </a:prstGeom>
          <a:noFill/>
        </p:spPr>
        <p:txBody>
          <a:bodyPr wrap="square">
            <a:spAutoFit/>
          </a:bodyPr>
          <a:lstStyle/>
          <a:p>
            <a:pPr algn="ctr"/>
            <a:r>
              <a:rPr sz="1400" b="1" i="0">
                <a:solidFill>
                  <a:srgbClr val="FFFFFF"/>
                </a:solidFill>
                <a:latin typeface="Calibri"/>
              </a:rPr>
              <a:t>04</a:t>
            </a:r>
          </a:p>
        </p:txBody>
      </p:sp>
      <p:sp>
        <p:nvSpPr>
          <p:cNvPr id="25" name="TextBox 24"/>
          <p:cNvSpPr txBox="1"/>
          <p:nvPr/>
        </p:nvSpPr>
        <p:spPr>
          <a:xfrm>
            <a:off x="6812280" y="2679192"/>
            <a:ext cx="5074920" cy="384048"/>
          </a:xfrm>
          <a:prstGeom prst="rect">
            <a:avLst/>
          </a:prstGeom>
          <a:noFill/>
        </p:spPr>
        <p:txBody>
          <a:bodyPr wrap="square">
            <a:spAutoFit/>
          </a:bodyPr>
          <a:lstStyle/>
          <a:p>
            <a:pPr algn="l"/>
            <a:r>
              <a:rPr sz="1300" b="1" i="0">
                <a:solidFill>
                  <a:srgbClr val="FFFFFF"/>
                </a:solidFill>
                <a:latin typeface="Calibri"/>
              </a:rPr>
              <a:t>Cơ chế 2-opt Swap</a:t>
            </a:r>
          </a:p>
        </p:txBody>
      </p:sp>
      <p:sp>
        <p:nvSpPr>
          <p:cNvPr id="26" name="TextBox 25"/>
          <p:cNvSpPr txBox="1"/>
          <p:nvPr/>
        </p:nvSpPr>
        <p:spPr>
          <a:xfrm>
            <a:off x="6812280" y="3044952"/>
            <a:ext cx="5074920" cy="566928"/>
          </a:xfrm>
          <a:prstGeom prst="rect">
            <a:avLst/>
          </a:prstGeom>
          <a:noFill/>
        </p:spPr>
        <p:txBody>
          <a:bodyPr wrap="square">
            <a:spAutoFit/>
          </a:bodyPr>
          <a:lstStyle/>
          <a:p>
            <a:pPr algn="l"/>
            <a:r>
              <a:rPr sz="1100" b="0" i="0">
                <a:solidFill>
                  <a:srgbClr val="94A3B8"/>
                </a:solidFill>
                <a:latin typeface="Calibri"/>
              </a:rPr>
              <a:t>Tạo láng giềng, đảo ngược đoạn lộ trình.</a:t>
            </a:r>
          </a:p>
        </p:txBody>
      </p:sp>
      <p:sp>
        <p:nvSpPr>
          <p:cNvPr id="27" name="Rectangle 26"/>
          <p:cNvSpPr/>
          <p:nvPr/>
        </p:nvSpPr>
        <p:spPr>
          <a:xfrm>
            <a:off x="457200" y="3849624"/>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849624"/>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123944"/>
            <a:ext cx="411480" cy="502920"/>
          </a:xfrm>
          <a:prstGeom prst="rect">
            <a:avLst/>
          </a:prstGeom>
          <a:noFill/>
        </p:spPr>
        <p:txBody>
          <a:bodyPr wrap="square">
            <a:spAutoFit/>
          </a:bodyPr>
          <a:lstStyle/>
          <a:p>
            <a:pPr algn="ctr"/>
            <a:r>
              <a:rPr sz="1400" b="1" i="0">
                <a:solidFill>
                  <a:srgbClr val="FFFFFF"/>
                </a:solidFill>
                <a:latin typeface="Calibri"/>
              </a:rPr>
              <a:t>05</a:t>
            </a:r>
          </a:p>
        </p:txBody>
      </p:sp>
      <p:sp>
        <p:nvSpPr>
          <p:cNvPr id="30" name="TextBox 29"/>
          <p:cNvSpPr txBox="1"/>
          <p:nvPr/>
        </p:nvSpPr>
        <p:spPr>
          <a:xfrm>
            <a:off x="960120" y="3941064"/>
            <a:ext cx="5074920" cy="384048"/>
          </a:xfrm>
          <a:prstGeom prst="rect">
            <a:avLst/>
          </a:prstGeom>
          <a:noFill/>
        </p:spPr>
        <p:txBody>
          <a:bodyPr wrap="square">
            <a:spAutoFit/>
          </a:bodyPr>
          <a:lstStyle/>
          <a:p>
            <a:pPr algn="l"/>
            <a:r>
              <a:rPr sz="1300" b="1" i="0">
                <a:solidFill>
                  <a:srgbClr val="FFFFFF"/>
                </a:solidFill>
                <a:latin typeface="Calibri"/>
              </a:rPr>
              <a:t>Kiến trúc Hệ thống &amp; Công nghệ</a:t>
            </a:r>
          </a:p>
        </p:txBody>
      </p:sp>
      <p:sp>
        <p:nvSpPr>
          <p:cNvPr id="31" name="TextBox 30"/>
          <p:cNvSpPr txBox="1"/>
          <p:nvPr/>
        </p:nvSpPr>
        <p:spPr>
          <a:xfrm>
            <a:off x="960120" y="4306824"/>
            <a:ext cx="5074920" cy="566928"/>
          </a:xfrm>
          <a:prstGeom prst="rect">
            <a:avLst/>
          </a:prstGeom>
          <a:noFill/>
        </p:spPr>
        <p:txBody>
          <a:bodyPr wrap="square">
            <a:spAutoFit/>
          </a:bodyPr>
          <a:lstStyle/>
          <a:p>
            <a:pPr algn="l"/>
            <a:r>
              <a:rPr sz="1100" b="0" i="0">
                <a:solidFill>
                  <a:srgbClr val="94A3B8"/>
                </a:solidFill>
                <a:latin typeface="Calibri"/>
              </a:rPr>
              <a:t>FastAPI, Streamlit, Folium, Plotly, Haversine.</a:t>
            </a:r>
          </a:p>
        </p:txBody>
      </p:sp>
      <p:sp>
        <p:nvSpPr>
          <p:cNvPr id="32" name="Rectangle 31"/>
          <p:cNvSpPr/>
          <p:nvPr/>
        </p:nvSpPr>
        <p:spPr>
          <a:xfrm>
            <a:off x="6309360" y="3849624"/>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849624"/>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123944"/>
            <a:ext cx="411480" cy="502920"/>
          </a:xfrm>
          <a:prstGeom prst="rect">
            <a:avLst/>
          </a:prstGeom>
          <a:noFill/>
        </p:spPr>
        <p:txBody>
          <a:bodyPr wrap="square">
            <a:spAutoFit/>
          </a:bodyPr>
          <a:lstStyle/>
          <a:p>
            <a:pPr algn="ctr"/>
            <a:r>
              <a:rPr sz="1400" b="1" i="0">
                <a:solidFill>
                  <a:srgbClr val="FFFFFF"/>
                </a:solidFill>
                <a:latin typeface="Calibri"/>
              </a:rPr>
              <a:t>06</a:t>
            </a:r>
          </a:p>
        </p:txBody>
      </p:sp>
      <p:sp>
        <p:nvSpPr>
          <p:cNvPr id="35" name="TextBox 34"/>
          <p:cNvSpPr txBox="1"/>
          <p:nvPr/>
        </p:nvSpPr>
        <p:spPr>
          <a:xfrm>
            <a:off x="6812280" y="3941064"/>
            <a:ext cx="5074920" cy="384048"/>
          </a:xfrm>
          <a:prstGeom prst="rect">
            <a:avLst/>
          </a:prstGeom>
          <a:noFill/>
        </p:spPr>
        <p:txBody>
          <a:bodyPr wrap="square">
            <a:spAutoFit/>
          </a:bodyPr>
          <a:lstStyle/>
          <a:p>
            <a:pPr algn="l"/>
            <a:r>
              <a:rPr sz="1300" b="1" i="0">
                <a:solidFill>
                  <a:srgbClr val="FFFFFF"/>
                </a:solidFill>
                <a:latin typeface="Calibri"/>
              </a:rPr>
              <a:t>Demo Ứng dụng</a:t>
            </a:r>
          </a:p>
        </p:txBody>
      </p:sp>
      <p:sp>
        <p:nvSpPr>
          <p:cNvPr id="36" name="TextBox 35"/>
          <p:cNvSpPr txBox="1"/>
          <p:nvPr/>
        </p:nvSpPr>
        <p:spPr>
          <a:xfrm>
            <a:off x="6812280" y="4306824"/>
            <a:ext cx="5074920" cy="566928"/>
          </a:xfrm>
          <a:prstGeom prst="rect">
            <a:avLst/>
          </a:prstGeom>
          <a:noFill/>
        </p:spPr>
        <p:txBody>
          <a:bodyPr wrap="square">
            <a:spAutoFit/>
          </a:bodyPr>
          <a:lstStyle/>
          <a:p>
            <a:pPr algn="l"/>
            <a:r>
              <a:rPr sz="1100" b="0" i="0">
                <a:solidFill>
                  <a:srgbClr val="94A3B8"/>
                </a:solidFill>
                <a:latin typeface="Calibri"/>
              </a:rPr>
              <a:t>Giao diện, bản đồ tương tác, hai chế độ giao hàng.</a:t>
            </a:r>
          </a:p>
        </p:txBody>
      </p:sp>
      <p:sp>
        <p:nvSpPr>
          <p:cNvPr id="37" name="Rectangle 36"/>
          <p:cNvSpPr/>
          <p:nvPr/>
        </p:nvSpPr>
        <p:spPr>
          <a:xfrm>
            <a:off x="457200" y="5111496"/>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5111496"/>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385816"/>
            <a:ext cx="411480" cy="502920"/>
          </a:xfrm>
          <a:prstGeom prst="rect">
            <a:avLst/>
          </a:prstGeom>
          <a:noFill/>
        </p:spPr>
        <p:txBody>
          <a:bodyPr wrap="square">
            <a:spAutoFit/>
          </a:bodyPr>
          <a:lstStyle/>
          <a:p>
            <a:pPr algn="ctr"/>
            <a:r>
              <a:rPr sz="1400" b="1" i="0">
                <a:solidFill>
                  <a:srgbClr val="FFFFFF"/>
                </a:solidFill>
                <a:latin typeface="Calibri"/>
              </a:rPr>
              <a:t>07</a:t>
            </a:r>
          </a:p>
        </p:txBody>
      </p:sp>
      <p:sp>
        <p:nvSpPr>
          <p:cNvPr id="40" name="TextBox 39"/>
          <p:cNvSpPr txBox="1"/>
          <p:nvPr/>
        </p:nvSpPr>
        <p:spPr>
          <a:xfrm>
            <a:off x="960120" y="5202936"/>
            <a:ext cx="5074920" cy="384048"/>
          </a:xfrm>
          <a:prstGeom prst="rect">
            <a:avLst/>
          </a:prstGeom>
          <a:noFill/>
        </p:spPr>
        <p:txBody>
          <a:bodyPr wrap="square">
            <a:spAutoFit/>
          </a:bodyPr>
          <a:lstStyle/>
          <a:p>
            <a:pPr algn="l"/>
            <a:r>
              <a:rPr sz="1300" b="1" i="0">
                <a:solidFill>
                  <a:srgbClr val="FFFFFF"/>
                </a:solidFill>
                <a:latin typeface="Calibri"/>
              </a:rPr>
              <a:t>Đánh giá Kết quả</a:t>
            </a:r>
          </a:p>
        </p:txBody>
      </p:sp>
      <p:sp>
        <p:nvSpPr>
          <p:cNvPr id="41" name="TextBox 40"/>
          <p:cNvSpPr txBox="1"/>
          <p:nvPr/>
        </p:nvSpPr>
        <p:spPr>
          <a:xfrm>
            <a:off x="960120" y="5568696"/>
            <a:ext cx="5074920" cy="566928"/>
          </a:xfrm>
          <a:prstGeom prst="rect">
            <a:avLst/>
          </a:prstGeom>
          <a:noFill/>
        </p:spPr>
        <p:txBody>
          <a:bodyPr wrap="square">
            <a:spAutoFit/>
          </a:bodyPr>
          <a:lstStyle/>
          <a:p>
            <a:pPr algn="l"/>
            <a:r>
              <a:rPr sz="1100" b="0" i="0">
                <a:solidFill>
                  <a:srgbClr val="94A3B8"/>
                </a:solidFill>
                <a:latin typeface="Calibri"/>
              </a:rPr>
              <a:t>Thực nghiệm, ưu nhược điểm, hướng phát triển.</a:t>
            </a:r>
          </a:p>
        </p:txBody>
      </p:sp>
      <p:sp>
        <p:nvSpPr>
          <p:cNvPr id="42" name="Rectangle 41"/>
          <p:cNvSpPr/>
          <p:nvPr/>
        </p:nvSpPr>
        <p:spPr>
          <a:xfrm>
            <a:off x="6309360" y="5111496"/>
            <a:ext cx="56692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9360" y="5111496"/>
            <a:ext cx="411480" cy="10972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5385816"/>
            <a:ext cx="411480" cy="502920"/>
          </a:xfrm>
          <a:prstGeom prst="rect">
            <a:avLst/>
          </a:prstGeom>
          <a:noFill/>
        </p:spPr>
        <p:txBody>
          <a:bodyPr wrap="square">
            <a:spAutoFit/>
          </a:bodyPr>
          <a:lstStyle/>
          <a:p>
            <a:pPr algn="ctr"/>
            <a:r>
              <a:rPr sz="1400" b="1" i="0">
                <a:solidFill>
                  <a:srgbClr val="FFFFFF"/>
                </a:solidFill>
                <a:latin typeface="Calibri"/>
              </a:rPr>
              <a:t>08</a:t>
            </a:r>
          </a:p>
        </p:txBody>
      </p:sp>
      <p:sp>
        <p:nvSpPr>
          <p:cNvPr id="45" name="TextBox 44"/>
          <p:cNvSpPr txBox="1"/>
          <p:nvPr/>
        </p:nvSpPr>
        <p:spPr>
          <a:xfrm>
            <a:off x="6812280" y="5202936"/>
            <a:ext cx="5074920" cy="384048"/>
          </a:xfrm>
          <a:prstGeom prst="rect">
            <a:avLst/>
          </a:prstGeom>
          <a:noFill/>
        </p:spPr>
        <p:txBody>
          <a:bodyPr wrap="square">
            <a:spAutoFit/>
          </a:bodyPr>
          <a:lstStyle/>
          <a:p>
            <a:pPr algn="l"/>
            <a:r>
              <a:rPr sz="1300" b="1" i="0">
                <a:solidFill>
                  <a:srgbClr val="FFFFFF"/>
                </a:solidFill>
                <a:latin typeface="Calibri"/>
              </a:rPr>
              <a:t>Kết luận</a:t>
            </a:r>
          </a:p>
        </p:txBody>
      </p:sp>
      <p:sp>
        <p:nvSpPr>
          <p:cNvPr id="46" name="TextBox 45"/>
          <p:cNvSpPr txBox="1"/>
          <p:nvPr/>
        </p:nvSpPr>
        <p:spPr>
          <a:xfrm>
            <a:off x="6812280" y="5568696"/>
            <a:ext cx="5074920" cy="566928"/>
          </a:xfrm>
          <a:prstGeom prst="rect">
            <a:avLst/>
          </a:prstGeom>
          <a:noFill/>
        </p:spPr>
        <p:txBody>
          <a:bodyPr wrap="square">
            <a:spAutoFit/>
          </a:bodyPr>
          <a:lstStyle/>
          <a:p>
            <a:pPr algn="l"/>
            <a:r>
              <a:rPr sz="1100" b="0" i="0">
                <a:solidFill>
                  <a:srgbClr val="94A3B8"/>
                </a:solidFill>
                <a:latin typeface="Calibri"/>
              </a:rPr>
              <a:t>Những gì đạt được và hướng cải tiến trong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Đặt vấn đề &amp; Động lực nghiên cứu</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01 / 07</a:t>
            </a:r>
          </a:p>
        </p:txBody>
      </p:sp>
      <p:sp>
        <p:nvSpPr>
          <p:cNvPr id="7" name="Rectangle 6"/>
          <p:cNvSpPr/>
          <p:nvPr/>
        </p:nvSpPr>
        <p:spPr>
          <a:xfrm>
            <a:off x="457200" y="1325880"/>
            <a:ext cx="5577840" cy="27432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64008" cy="2743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389888"/>
            <a:ext cx="5212080" cy="320040"/>
          </a:xfrm>
          <a:prstGeom prst="rect">
            <a:avLst/>
          </a:prstGeom>
          <a:noFill/>
        </p:spPr>
        <p:txBody>
          <a:bodyPr wrap="square">
            <a:spAutoFit/>
          </a:bodyPr>
          <a:lstStyle/>
          <a:p>
            <a:pPr algn="l"/>
            <a:r>
              <a:rPr sz="1100" b="1" i="0">
                <a:solidFill>
                  <a:srgbClr val="F59E0B"/>
                </a:solidFill>
                <a:latin typeface="Calibri"/>
              </a:rPr>
              <a:t>📌  THỰC TRẠNG</a:t>
            </a:r>
          </a:p>
        </p:txBody>
      </p:sp>
      <p:sp>
        <p:nvSpPr>
          <p:cNvPr id="10" name="TextBox 9"/>
          <p:cNvSpPr txBox="1"/>
          <p:nvPr/>
        </p:nvSpPr>
        <p:spPr>
          <a:xfrm>
            <a:off x="621792" y="1755648"/>
            <a:ext cx="5212080" cy="2103120"/>
          </a:xfrm>
          <a:prstGeom prst="rect">
            <a:avLst/>
          </a:prstGeom>
          <a:noFill/>
        </p:spPr>
        <p:txBody>
          <a:bodyPr wrap="square">
            <a:spAutoFit/>
          </a:bodyPr>
          <a:lstStyle/>
          <a:p>
            <a:pPr>
              <a:spcBef>
                <a:spcPts val="300"/>
              </a:spcBef>
            </a:pPr>
            <a:r>
              <a:rPr sz="1300" b="0">
                <a:solidFill>
                  <a:srgbClr val="FFFFFF"/>
                </a:solidFill>
                <a:latin typeface="Calibri"/>
              </a:rPr>
              <a:t>• TP.HCM là trung tâm logistics lớn nhất Việt Nam</a:t>
            </a:r>
          </a:p>
          <a:p>
            <a:pPr>
              <a:spcBef>
                <a:spcPts val="300"/>
              </a:spcBef>
            </a:pPr>
            <a:r>
              <a:rPr sz="1300" b="0">
                <a:solidFill>
                  <a:srgbClr val="FFFFFF"/>
                </a:solidFill>
                <a:latin typeface="Calibri"/>
              </a:rPr>
              <a:t>• Hàng triệu đơn hàng giao mỗi ngày từ TMĐT</a:t>
            </a:r>
          </a:p>
          <a:p>
            <a:pPr>
              <a:spcBef>
                <a:spcPts val="300"/>
              </a:spcBef>
            </a:pPr>
            <a:r>
              <a:rPr sz="1200" b="0">
                <a:solidFill>
                  <a:srgbClr val="94A3B8"/>
                </a:solidFill>
                <a:latin typeface="Calibri"/>
              </a:rPr>
              <a:t>• Tắc đường, mạng lưới phức tạp → tốn nhiên liệu</a:t>
            </a:r>
          </a:p>
          <a:p>
            <a:pPr>
              <a:spcBef>
                <a:spcPts val="300"/>
              </a:spcBef>
            </a:pPr>
            <a:r>
              <a:rPr sz="1200" b="0">
                <a:solidFill>
                  <a:srgbClr val="94A3B8"/>
                </a:solidFill>
                <a:latin typeface="Calibri"/>
              </a:rPr>
              <a:t>• Người giao hàng phụ thuộc vào kinh nghiệm cá nhân</a:t>
            </a:r>
          </a:p>
          <a:p>
            <a:pPr>
              <a:spcBef>
                <a:spcPts val="300"/>
              </a:spcBef>
            </a:pPr>
            <a:r>
              <a:rPr sz="1200" b="0">
                <a:solidFill>
                  <a:srgbClr val="94A3B8"/>
                </a:solidFill>
                <a:latin typeface="Calibri"/>
              </a:rPr>
              <a:t>• Không có công cụ tối ưu trực quan, dễ dùng</a:t>
            </a:r>
          </a:p>
        </p:txBody>
      </p:sp>
      <p:sp>
        <p:nvSpPr>
          <p:cNvPr id="11" name="Rectangle 10"/>
          <p:cNvSpPr/>
          <p:nvPr/>
        </p:nvSpPr>
        <p:spPr>
          <a:xfrm>
            <a:off x="6217920" y="1325880"/>
            <a:ext cx="5513832" cy="27432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64008" cy="2743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389888"/>
            <a:ext cx="5212080" cy="320040"/>
          </a:xfrm>
          <a:prstGeom prst="rect">
            <a:avLst/>
          </a:prstGeom>
          <a:noFill/>
        </p:spPr>
        <p:txBody>
          <a:bodyPr wrap="square">
            <a:spAutoFit/>
          </a:bodyPr>
          <a:lstStyle/>
          <a:p>
            <a:pPr algn="l"/>
            <a:r>
              <a:rPr sz="1100" b="1" i="0">
                <a:solidFill>
                  <a:srgbClr val="60A5FA"/>
                </a:solidFill>
                <a:latin typeface="Calibri"/>
              </a:rPr>
              <a:t>❓  BÀI TOÁN ĐẶT RA</a:t>
            </a:r>
          </a:p>
        </p:txBody>
      </p:sp>
      <p:sp>
        <p:nvSpPr>
          <p:cNvPr id="14" name="TextBox 13"/>
          <p:cNvSpPr txBox="1"/>
          <p:nvPr/>
        </p:nvSpPr>
        <p:spPr>
          <a:xfrm>
            <a:off x="6382512" y="1755648"/>
            <a:ext cx="5212080" cy="2103120"/>
          </a:xfrm>
          <a:prstGeom prst="rect">
            <a:avLst/>
          </a:prstGeom>
          <a:noFill/>
        </p:spPr>
        <p:txBody>
          <a:bodyPr wrap="square">
            <a:spAutoFit/>
          </a:bodyPr>
          <a:lstStyle/>
          <a:p>
            <a:pPr>
              <a:spcBef>
                <a:spcPts val="300"/>
              </a:spcBef>
            </a:pPr>
            <a:r>
              <a:rPr sz="1300" b="0">
                <a:solidFill>
                  <a:srgbClr val="FFFFFF"/>
                </a:solidFill>
                <a:latin typeface="Calibri"/>
              </a:rPr>
              <a:t>• Với 14 địa điểm, có 87 tỷ hoán vị khác nhau</a:t>
            </a:r>
          </a:p>
          <a:p>
            <a:pPr>
              <a:spcBef>
                <a:spcPts val="300"/>
              </a:spcBef>
            </a:pPr>
            <a:r>
              <a:rPr sz="1300" b="1">
                <a:solidFill>
                  <a:srgbClr val="EF4444"/>
                </a:solidFill>
                <a:latin typeface="Calibri"/>
              </a:rPr>
              <a:t>• Duyệt toàn bộ (Brute-force) là BẤT KHẢ THI</a:t>
            </a:r>
          </a:p>
          <a:p>
            <a:pPr>
              <a:spcBef>
                <a:spcPts val="300"/>
              </a:spcBef>
            </a:pPr>
            <a:r>
              <a:rPr sz="1200" b="0">
                <a:solidFill>
                  <a:srgbClr val="94A3B8"/>
                </a:solidFill>
                <a:latin typeface="Calibri"/>
              </a:rPr>
              <a:t>• Cần giải thuật thông minh, đủ nhanh cho thực tế</a:t>
            </a:r>
          </a:p>
          <a:p>
            <a:pPr>
              <a:spcBef>
                <a:spcPts val="300"/>
              </a:spcBef>
            </a:pPr>
            <a:r>
              <a:rPr sz="1200" b="0">
                <a:solidFill>
                  <a:srgbClr val="94A3B8"/>
                </a:solidFill>
                <a:latin typeface="Calibri"/>
              </a:rPr>
              <a:t>• Kết quả hiển thị trực quan, dễ sử dụng cho shipper</a:t>
            </a:r>
          </a:p>
          <a:p>
            <a:pPr>
              <a:spcBef>
                <a:spcPts val="300"/>
              </a:spcBef>
            </a:pPr>
            <a:r>
              <a:rPr sz="1300" b="1">
                <a:solidFill>
                  <a:srgbClr val="60A5FA"/>
                </a:solidFill>
                <a:latin typeface="Calibri"/>
              </a:rPr>
              <a:t>• → Áp dụng Simulated Annealing + 2-opt</a:t>
            </a:r>
          </a:p>
        </p:txBody>
      </p:sp>
      <p:sp>
        <p:nvSpPr>
          <p:cNvPr id="15" name="Rectangle 14"/>
          <p:cNvSpPr/>
          <p:nvPr/>
        </p:nvSpPr>
        <p:spPr>
          <a:xfrm>
            <a:off x="457200" y="4251960"/>
            <a:ext cx="3657600" cy="13258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343400"/>
            <a:ext cx="3657600" cy="548640"/>
          </a:xfrm>
          <a:prstGeom prst="rect">
            <a:avLst/>
          </a:prstGeom>
          <a:noFill/>
        </p:spPr>
        <p:txBody>
          <a:bodyPr wrap="square">
            <a:spAutoFit/>
          </a:bodyPr>
          <a:lstStyle/>
          <a:p>
            <a:pPr algn="ctr"/>
            <a:r>
              <a:rPr sz="2200" b="1" i="0">
                <a:solidFill>
                  <a:srgbClr val="60A5FA"/>
                </a:solidFill>
                <a:latin typeface="Calibri"/>
              </a:rPr>
              <a:t>14</a:t>
            </a:r>
          </a:p>
        </p:txBody>
      </p:sp>
      <p:sp>
        <p:nvSpPr>
          <p:cNvPr id="17" name="TextBox 16"/>
          <p:cNvSpPr txBox="1"/>
          <p:nvPr/>
        </p:nvSpPr>
        <p:spPr>
          <a:xfrm>
            <a:off x="457200" y="4828032"/>
            <a:ext cx="3657600" cy="685800"/>
          </a:xfrm>
          <a:prstGeom prst="rect">
            <a:avLst/>
          </a:prstGeom>
          <a:noFill/>
        </p:spPr>
        <p:txBody>
          <a:bodyPr wrap="square">
            <a:spAutoFit/>
          </a:bodyPr>
          <a:lstStyle/>
          <a:p>
            <a:pPr algn="ctr"/>
            <a:r>
              <a:rPr sz="1100" b="0" i="0">
                <a:solidFill>
                  <a:srgbClr val="94A3B8"/>
                </a:solidFill>
                <a:latin typeface="Calibri"/>
              </a:rPr>
              <a:t>Địa điểm
giao hàng TP.HCM</a:t>
            </a:r>
          </a:p>
        </p:txBody>
      </p:sp>
      <p:sp>
        <p:nvSpPr>
          <p:cNvPr id="18" name="Rectangle 17"/>
          <p:cNvSpPr/>
          <p:nvPr/>
        </p:nvSpPr>
        <p:spPr>
          <a:xfrm>
            <a:off x="4361687" y="4251960"/>
            <a:ext cx="3657600" cy="13258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7" y="4343400"/>
            <a:ext cx="3657600" cy="548640"/>
          </a:xfrm>
          <a:prstGeom prst="rect">
            <a:avLst/>
          </a:prstGeom>
          <a:noFill/>
        </p:spPr>
        <p:txBody>
          <a:bodyPr wrap="square">
            <a:spAutoFit/>
          </a:bodyPr>
          <a:lstStyle/>
          <a:p>
            <a:pPr algn="ctr"/>
            <a:r>
              <a:rPr sz="2200" b="1" i="0">
                <a:solidFill>
                  <a:srgbClr val="60A5FA"/>
                </a:solidFill>
                <a:latin typeface="Calibri"/>
              </a:rPr>
              <a:t>13! ≈ 6.2B</a:t>
            </a:r>
          </a:p>
        </p:txBody>
      </p:sp>
      <p:sp>
        <p:nvSpPr>
          <p:cNvPr id="20" name="TextBox 19"/>
          <p:cNvSpPr txBox="1"/>
          <p:nvPr/>
        </p:nvSpPr>
        <p:spPr>
          <a:xfrm>
            <a:off x="4361687" y="4828032"/>
            <a:ext cx="3657600" cy="685800"/>
          </a:xfrm>
          <a:prstGeom prst="rect">
            <a:avLst/>
          </a:prstGeom>
          <a:noFill/>
        </p:spPr>
        <p:txBody>
          <a:bodyPr wrap="square">
            <a:spAutoFit/>
          </a:bodyPr>
          <a:lstStyle/>
          <a:p>
            <a:pPr algn="ctr"/>
            <a:r>
              <a:rPr sz="1100" b="0" i="0">
                <a:solidFill>
                  <a:srgbClr val="94A3B8"/>
                </a:solidFill>
                <a:latin typeface="Calibri"/>
              </a:rPr>
              <a:t>Lộ trình
có thể xảy ra</a:t>
            </a:r>
          </a:p>
        </p:txBody>
      </p:sp>
      <p:sp>
        <p:nvSpPr>
          <p:cNvPr id="21" name="Rectangle 20"/>
          <p:cNvSpPr/>
          <p:nvPr/>
        </p:nvSpPr>
        <p:spPr>
          <a:xfrm>
            <a:off x="8266174" y="4251960"/>
            <a:ext cx="3657600" cy="13258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4" y="4343400"/>
            <a:ext cx="3657600" cy="548640"/>
          </a:xfrm>
          <a:prstGeom prst="rect">
            <a:avLst/>
          </a:prstGeom>
          <a:noFill/>
        </p:spPr>
        <p:txBody>
          <a:bodyPr wrap="square">
            <a:spAutoFit/>
          </a:bodyPr>
          <a:lstStyle/>
          <a:p>
            <a:pPr algn="ctr"/>
            <a:r>
              <a:rPr sz="2200" b="1" i="0">
                <a:solidFill>
                  <a:srgbClr val="60A5FA"/>
                </a:solidFill>
                <a:latin typeface="Calibri"/>
              </a:rPr>
              <a:t>SA + 2-opt</a:t>
            </a:r>
          </a:p>
        </p:txBody>
      </p:sp>
      <p:sp>
        <p:nvSpPr>
          <p:cNvPr id="23" name="TextBox 22"/>
          <p:cNvSpPr txBox="1"/>
          <p:nvPr/>
        </p:nvSpPr>
        <p:spPr>
          <a:xfrm>
            <a:off x="8266174" y="4828032"/>
            <a:ext cx="3657600" cy="685800"/>
          </a:xfrm>
          <a:prstGeom prst="rect">
            <a:avLst/>
          </a:prstGeom>
          <a:noFill/>
        </p:spPr>
        <p:txBody>
          <a:bodyPr wrap="square">
            <a:spAutoFit/>
          </a:bodyPr>
          <a:lstStyle/>
          <a:p>
            <a:pPr algn="ctr"/>
            <a:r>
              <a:rPr sz="1100" b="0" i="0">
                <a:solidFill>
                  <a:srgbClr val="94A3B8"/>
                </a:solidFill>
                <a:latin typeface="Calibri"/>
              </a:rPr>
              <a:t>Giải pháp
được chọn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Bài toán Người đi Chào hàng (TSP)</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02 / 07</a:t>
            </a:r>
          </a:p>
        </p:txBody>
      </p:sp>
      <p:sp>
        <p:nvSpPr>
          <p:cNvPr id="7" name="Rectangle 6"/>
          <p:cNvSpPr/>
          <p:nvPr/>
        </p:nvSpPr>
        <p:spPr>
          <a:xfrm>
            <a:off x="457200" y="1325880"/>
            <a:ext cx="5577840" cy="192024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89888"/>
            <a:ext cx="5303520" cy="320040"/>
          </a:xfrm>
          <a:prstGeom prst="rect">
            <a:avLst/>
          </a:prstGeom>
          <a:noFill/>
        </p:spPr>
        <p:txBody>
          <a:bodyPr wrap="square">
            <a:spAutoFit/>
          </a:bodyPr>
          <a:lstStyle/>
          <a:p>
            <a:pPr algn="l"/>
            <a:r>
              <a:rPr sz="1100" b="1" i="0">
                <a:solidFill>
                  <a:srgbClr val="8B5CF6"/>
                </a:solidFill>
                <a:latin typeface="Calibri"/>
              </a:rPr>
              <a:t>📖  ĐỊNH NGHĨA CHÍNH THỨC</a:t>
            </a:r>
          </a:p>
        </p:txBody>
      </p:sp>
      <p:sp>
        <p:nvSpPr>
          <p:cNvPr id="9" name="TextBox 8"/>
          <p:cNvSpPr txBox="1"/>
          <p:nvPr/>
        </p:nvSpPr>
        <p:spPr>
          <a:xfrm>
            <a:off x="594360" y="1737360"/>
            <a:ext cx="5303520" cy="1371600"/>
          </a:xfrm>
          <a:prstGeom prst="rect">
            <a:avLst/>
          </a:prstGeom>
          <a:noFill/>
        </p:spPr>
        <p:txBody>
          <a:bodyPr wrap="square">
            <a:spAutoFit/>
          </a:bodyPr>
          <a:lstStyle/>
          <a:p>
            <a:pPr algn="l"/>
            <a:r>
              <a:rPr sz="1300" b="0" i="0">
                <a:solidFill>
                  <a:srgbClr val="FFFFFF"/>
                </a:solidFill>
                <a:latin typeface="Calibri"/>
              </a:rPr>
              <a:t>Cho n đỉnh (thành phố) và ma trận khoảng cách,
tìm lộ trình đi qua TẤT CẢ đỉnh đúng MỘT LẦN và trở về điểm xuất phát sao cho TỔNG QUÃNG ĐƯỜNG NHỎ NHẤT.</a:t>
            </a:r>
          </a:p>
        </p:txBody>
      </p:sp>
      <p:sp>
        <p:nvSpPr>
          <p:cNvPr id="10" name="Rectangle 9"/>
          <p:cNvSpPr/>
          <p:nvPr/>
        </p:nvSpPr>
        <p:spPr>
          <a:xfrm>
            <a:off x="457200" y="3337560"/>
            <a:ext cx="5577840" cy="777240"/>
          </a:xfrm>
          <a:prstGeom prst="rect">
            <a:avLst/>
          </a:prstGeom>
          <a:solidFill>
            <a:srgbClr val="101C40"/>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01568"/>
            <a:ext cx="5394960" cy="594360"/>
          </a:xfrm>
          <a:prstGeom prst="rect">
            <a:avLst/>
          </a:prstGeom>
          <a:noFill/>
        </p:spPr>
        <p:txBody>
          <a:bodyPr wrap="square">
            <a:spAutoFit/>
          </a:bodyPr>
          <a:lstStyle/>
          <a:p>
            <a:pPr algn="ctr"/>
            <a:r>
              <a:rPr sz="1600" b="1" i="0">
                <a:solidFill>
                  <a:srgbClr val="60A5FA"/>
                </a:solidFill>
                <a:latin typeface="Courier New"/>
              </a:rPr>
              <a:t>    min  Σ  d(cᵢ , cᵢ₊₁)   ,   c_{n+1} = c₁</a:t>
            </a:r>
          </a:p>
        </p:txBody>
      </p:sp>
      <p:sp>
        <p:nvSpPr>
          <p:cNvPr id="12" name="Rectangle 11"/>
          <p:cNvSpPr/>
          <p:nvPr/>
        </p:nvSpPr>
        <p:spPr>
          <a:xfrm>
            <a:off x="457200" y="4206240"/>
            <a:ext cx="5577840" cy="15087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06240"/>
            <a:ext cx="64008" cy="1508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270248"/>
            <a:ext cx="5303520" cy="320040"/>
          </a:xfrm>
          <a:prstGeom prst="rect">
            <a:avLst/>
          </a:prstGeom>
          <a:noFill/>
        </p:spPr>
        <p:txBody>
          <a:bodyPr wrap="square">
            <a:spAutoFit/>
          </a:bodyPr>
          <a:lstStyle/>
          <a:p>
            <a:pPr algn="l"/>
            <a:r>
              <a:rPr sz="1100" b="1" i="0">
                <a:solidFill>
                  <a:srgbClr val="8B5CF6"/>
                </a:solidFill>
                <a:latin typeface="Calibri"/>
              </a:rPr>
              <a:t>⚠  ĐỘ PHỨC TẠP TÍNH TOÁN</a:t>
            </a:r>
          </a:p>
        </p:txBody>
      </p:sp>
      <p:sp>
        <p:nvSpPr>
          <p:cNvPr id="15" name="TextBox 14"/>
          <p:cNvSpPr txBox="1"/>
          <p:nvPr/>
        </p:nvSpPr>
        <p:spPr>
          <a:xfrm>
            <a:off x="621792" y="4626864"/>
            <a:ext cx="5303520" cy="1005840"/>
          </a:xfrm>
          <a:prstGeom prst="rect">
            <a:avLst/>
          </a:prstGeom>
          <a:noFill/>
        </p:spPr>
        <p:txBody>
          <a:bodyPr wrap="square">
            <a:spAutoFit/>
          </a:bodyPr>
          <a:lstStyle/>
          <a:p>
            <a:pPr>
              <a:spcBef>
                <a:spcPts val="300"/>
              </a:spcBef>
            </a:pPr>
            <a:r>
              <a:rPr sz="1300" b="1">
                <a:solidFill>
                  <a:srgbClr val="EF4444"/>
                </a:solidFill>
                <a:latin typeface="Calibri"/>
              </a:rPr>
              <a:t>NP-Hard — không có thuật toán đa thức</a:t>
            </a:r>
          </a:p>
          <a:p>
            <a:pPr>
              <a:spcBef>
                <a:spcPts val="300"/>
              </a:spcBef>
            </a:pPr>
            <a:r>
              <a:rPr sz="1200" b="0">
                <a:solidFill>
                  <a:srgbClr val="94A3B8"/>
                </a:solidFill>
                <a:latin typeface="Calibri"/>
              </a:rPr>
              <a:t>Brute-force: O((n-1)!)  →  cực kỳ tốn thời gian</a:t>
            </a:r>
          </a:p>
          <a:p>
            <a:pPr>
              <a:spcBef>
                <a:spcPts val="300"/>
              </a:spcBef>
            </a:pPr>
            <a:r>
              <a:rPr sz="1300" b="1">
                <a:solidFill>
                  <a:srgbClr val="60A5FA"/>
                </a:solidFill>
                <a:latin typeface="Calibri"/>
              </a:rPr>
              <a:t>→ Sử dụng giải thuật heuristic / metaheuristic</a:t>
            </a:r>
          </a:p>
        </p:txBody>
      </p:sp>
      <p:sp>
        <p:nvSpPr>
          <p:cNvPr id="16" name="Rectangle 15"/>
          <p:cNvSpPr/>
          <p:nvPr/>
        </p:nvSpPr>
        <p:spPr>
          <a:xfrm>
            <a:off x="6217920" y="1325880"/>
            <a:ext cx="5513832" cy="192024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389888"/>
            <a:ext cx="5303520" cy="320040"/>
          </a:xfrm>
          <a:prstGeom prst="rect">
            <a:avLst/>
          </a:prstGeom>
          <a:noFill/>
        </p:spPr>
        <p:txBody>
          <a:bodyPr wrap="square">
            <a:spAutoFit/>
          </a:bodyPr>
          <a:lstStyle/>
          <a:p>
            <a:pPr algn="l"/>
            <a:r>
              <a:rPr sz="1100" b="1" i="0">
                <a:solidFill>
                  <a:srgbClr val="60A5FA"/>
                </a:solidFill>
                <a:latin typeface="Calibri"/>
              </a:rPr>
              <a:t>📐  CÔNG THỨC HAVERSINE (Khoảng cách thực)</a:t>
            </a:r>
          </a:p>
        </p:txBody>
      </p:sp>
      <p:sp>
        <p:nvSpPr>
          <p:cNvPr id="18" name="TextBox 17"/>
          <p:cNvSpPr txBox="1"/>
          <p:nvPr/>
        </p:nvSpPr>
        <p:spPr>
          <a:xfrm>
            <a:off x="6355080" y="1737360"/>
            <a:ext cx="5303520" cy="1325880"/>
          </a:xfrm>
          <a:prstGeom prst="rect">
            <a:avLst/>
          </a:prstGeom>
          <a:noFill/>
        </p:spPr>
        <p:txBody>
          <a:bodyPr wrap="square">
            <a:spAutoFit/>
          </a:bodyPr>
          <a:lstStyle/>
          <a:p>
            <a:pPr algn="l"/>
            <a:r>
              <a:rPr sz="1300" b="0" i="0">
                <a:solidFill>
                  <a:srgbClr val="60A5FA"/>
                </a:solidFill>
                <a:latin typeface="Courier New"/>
              </a:rPr>
              <a:t>a = sin²(Δφ/2) + cosφ₁ · cosφ₂ · sin²(Δλ/2)
d = 2R · atan2(√a, √(1−a))
R = 6,371 km (bán kính Trái Đất)</a:t>
            </a:r>
          </a:p>
        </p:txBody>
      </p:sp>
      <p:sp>
        <p:nvSpPr>
          <p:cNvPr id="19" name="Rectangle 18"/>
          <p:cNvSpPr/>
          <p:nvPr/>
        </p:nvSpPr>
        <p:spPr>
          <a:xfrm>
            <a:off x="6217920" y="3337560"/>
            <a:ext cx="5513832" cy="237744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401568"/>
            <a:ext cx="5303520" cy="320040"/>
          </a:xfrm>
          <a:prstGeom prst="rect">
            <a:avLst/>
          </a:prstGeom>
          <a:noFill/>
        </p:spPr>
        <p:txBody>
          <a:bodyPr wrap="square">
            <a:spAutoFit/>
          </a:bodyPr>
          <a:lstStyle/>
          <a:p>
            <a:pPr algn="l"/>
            <a:r>
              <a:rPr sz="1100" b="1" i="0">
                <a:solidFill>
                  <a:srgbClr val="10B981"/>
                </a:solidFill>
                <a:latin typeface="Calibri"/>
              </a:rPr>
              <a:t>📍  14 PHƯỜNG / QUẬN TẠI TP.HCM</a:t>
            </a:r>
          </a:p>
        </p:txBody>
      </p:sp>
      <p:sp>
        <p:nvSpPr>
          <p:cNvPr id="21" name="TextBox 20"/>
          <p:cNvSpPr txBox="1"/>
          <p:nvPr/>
        </p:nvSpPr>
        <p:spPr>
          <a:xfrm>
            <a:off x="6355080" y="3767328"/>
            <a:ext cx="5303520" cy="1828800"/>
          </a:xfrm>
          <a:prstGeom prst="rect">
            <a:avLst/>
          </a:prstGeom>
          <a:noFill/>
        </p:spPr>
        <p:txBody>
          <a:bodyPr wrap="square">
            <a:spAutoFit/>
          </a:bodyPr>
          <a:lstStyle/>
          <a:p>
            <a:pPr algn="l"/>
            <a:r>
              <a:rPr sz="1200" b="0" i="0">
                <a:solidFill>
                  <a:srgbClr val="94A3B8"/>
                </a:solidFill>
                <a:latin typeface="Calibri"/>
              </a:rPr>
              <a:t>Bến Nghé Q.1  •  P.6 Q.3  •  P.4 Q.4
P.1 Q.5  •  Tân Thuận Đông Q.7  •  P.12 Q.10
P.10 Q.11  •  P.7 Phú Nhuận  •  P.1 Bình Thạnh
P.13 Tân Bình  •  Thảo Điền TĐ  •  Bình An TĐ
Linh Tây TĐ  •  Đa Kao Q.1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Giải thuật Simulated Annealing (SA)</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03 / 07</a:t>
            </a:r>
          </a:p>
        </p:txBody>
      </p:sp>
      <p:sp>
        <p:nvSpPr>
          <p:cNvPr id="7" name="Rectangle 6"/>
          <p:cNvSpPr/>
          <p:nvPr/>
        </p:nvSpPr>
        <p:spPr>
          <a:xfrm>
            <a:off x="457200" y="1325880"/>
            <a:ext cx="5577840" cy="16459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89888"/>
            <a:ext cx="5303520" cy="320040"/>
          </a:xfrm>
          <a:prstGeom prst="rect">
            <a:avLst/>
          </a:prstGeom>
          <a:noFill/>
        </p:spPr>
        <p:txBody>
          <a:bodyPr wrap="square">
            <a:spAutoFit/>
          </a:bodyPr>
          <a:lstStyle/>
          <a:p>
            <a:pPr algn="l"/>
            <a:r>
              <a:rPr sz="1100" b="1" i="0">
                <a:solidFill>
                  <a:srgbClr val="60A5FA"/>
                </a:solidFill>
                <a:latin typeface="Calibri"/>
              </a:rPr>
              <a:t>💡  Ý TƯỞNG — MÔ PHỎNG LUYỆN KIM</a:t>
            </a:r>
          </a:p>
        </p:txBody>
      </p:sp>
      <p:sp>
        <p:nvSpPr>
          <p:cNvPr id="9" name="TextBox 8"/>
          <p:cNvSpPr txBox="1"/>
          <p:nvPr/>
        </p:nvSpPr>
        <p:spPr>
          <a:xfrm>
            <a:off x="594360" y="1737360"/>
            <a:ext cx="5303520" cy="1143000"/>
          </a:xfrm>
          <a:prstGeom prst="rect">
            <a:avLst/>
          </a:prstGeom>
          <a:noFill/>
        </p:spPr>
        <p:txBody>
          <a:bodyPr wrap="square">
            <a:spAutoFit/>
          </a:bodyPr>
          <a:lstStyle/>
          <a:p>
            <a:pPr algn="l"/>
            <a:r>
              <a:rPr sz="1300" b="0" i="0">
                <a:solidFill>
                  <a:srgbClr val="FFFFFF"/>
                </a:solidFill>
                <a:latin typeface="Calibri"/>
              </a:rPr>
              <a:t>Nung nóng kim loại rồi làm nguội TỪ TỪ: ở nhiệt độ cao, nguyên tử tự do di chuyển; khi nhiệt độ giảm dần, chúng ổn định vào trạng thái năng lượng THẤP NHẤT.</a:t>
            </a:r>
          </a:p>
        </p:txBody>
      </p:sp>
      <p:sp>
        <p:nvSpPr>
          <p:cNvPr id="10" name="Rectangle 9"/>
          <p:cNvSpPr/>
          <p:nvPr/>
        </p:nvSpPr>
        <p:spPr>
          <a:xfrm>
            <a:off x="457200" y="3063240"/>
            <a:ext cx="5577840" cy="26517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127248"/>
            <a:ext cx="5303520" cy="320040"/>
          </a:xfrm>
          <a:prstGeom prst="rect">
            <a:avLst/>
          </a:prstGeom>
          <a:noFill/>
        </p:spPr>
        <p:txBody>
          <a:bodyPr wrap="square">
            <a:spAutoFit/>
          </a:bodyPr>
          <a:lstStyle/>
          <a:p>
            <a:pPr algn="l"/>
            <a:r>
              <a:rPr sz="1100" b="1" i="0">
                <a:solidFill>
                  <a:srgbClr val="60A5FA"/>
                </a:solidFill>
                <a:latin typeface="Calibri"/>
              </a:rPr>
              <a:t>⚙  CÁC THAM SỐ TRONG CODE</a:t>
            </a:r>
          </a:p>
        </p:txBody>
      </p:sp>
      <p:sp>
        <p:nvSpPr>
          <p:cNvPr id="12" name="Rectangle 11"/>
          <p:cNvSpPr/>
          <p:nvPr/>
        </p:nvSpPr>
        <p:spPr>
          <a:xfrm>
            <a:off x="594360" y="3493008"/>
            <a:ext cx="1463040" cy="384048"/>
          </a:xfrm>
          <a:prstGeom prst="rect">
            <a:avLst/>
          </a:prstGeom>
          <a:solidFill>
            <a:srgbClr val="1A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493008"/>
            <a:ext cx="1463040" cy="384048"/>
          </a:xfrm>
          <a:prstGeom prst="rect">
            <a:avLst/>
          </a:prstGeom>
          <a:noFill/>
        </p:spPr>
        <p:txBody>
          <a:bodyPr wrap="square">
            <a:spAutoFit/>
          </a:bodyPr>
          <a:lstStyle/>
          <a:p>
            <a:pPr algn="ctr"/>
            <a:r>
              <a:rPr sz="1100" b="1" i="0">
                <a:solidFill>
                  <a:srgbClr val="60A5FA"/>
                </a:solidFill>
                <a:latin typeface="Courier New"/>
              </a:rPr>
              <a:t>T0 = 100.0</a:t>
            </a:r>
          </a:p>
        </p:txBody>
      </p:sp>
      <p:sp>
        <p:nvSpPr>
          <p:cNvPr id="14" name="TextBox 13"/>
          <p:cNvSpPr txBox="1"/>
          <p:nvPr/>
        </p:nvSpPr>
        <p:spPr>
          <a:xfrm>
            <a:off x="2148840" y="3493008"/>
            <a:ext cx="3749039" cy="384048"/>
          </a:xfrm>
          <a:prstGeom prst="rect">
            <a:avLst/>
          </a:prstGeom>
          <a:noFill/>
        </p:spPr>
        <p:txBody>
          <a:bodyPr wrap="square">
            <a:spAutoFit/>
          </a:bodyPr>
          <a:lstStyle/>
          <a:p>
            <a:pPr algn="l"/>
            <a:r>
              <a:rPr sz="1100" b="0" i="0">
                <a:solidFill>
                  <a:srgbClr val="FFFFFF"/>
                </a:solidFill>
                <a:latin typeface="Calibri"/>
              </a:rPr>
              <a:t>Nhiệt độ ban đầu  —  Điều khiển mức độ chấp nhận nghiệm xấu</a:t>
            </a:r>
          </a:p>
        </p:txBody>
      </p:sp>
      <p:sp>
        <p:nvSpPr>
          <p:cNvPr id="15" name="Rectangle 14"/>
          <p:cNvSpPr/>
          <p:nvPr/>
        </p:nvSpPr>
        <p:spPr>
          <a:xfrm>
            <a:off x="594360" y="4023360"/>
            <a:ext cx="1463040" cy="384048"/>
          </a:xfrm>
          <a:prstGeom prst="rect">
            <a:avLst/>
          </a:prstGeom>
          <a:solidFill>
            <a:srgbClr val="1A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023360"/>
            <a:ext cx="1463040" cy="384048"/>
          </a:xfrm>
          <a:prstGeom prst="rect">
            <a:avLst/>
          </a:prstGeom>
          <a:noFill/>
        </p:spPr>
        <p:txBody>
          <a:bodyPr wrap="square">
            <a:spAutoFit/>
          </a:bodyPr>
          <a:lstStyle/>
          <a:p>
            <a:pPr algn="ctr"/>
            <a:r>
              <a:rPr sz="1100" b="1" i="0">
                <a:solidFill>
                  <a:srgbClr val="60A5FA"/>
                </a:solidFill>
                <a:latin typeface="Courier New"/>
              </a:rPr>
              <a:t>alpha = 0.9995</a:t>
            </a:r>
          </a:p>
        </p:txBody>
      </p:sp>
      <p:sp>
        <p:nvSpPr>
          <p:cNvPr id="17" name="TextBox 16"/>
          <p:cNvSpPr txBox="1"/>
          <p:nvPr/>
        </p:nvSpPr>
        <p:spPr>
          <a:xfrm>
            <a:off x="2148840" y="4023360"/>
            <a:ext cx="3749039" cy="384048"/>
          </a:xfrm>
          <a:prstGeom prst="rect">
            <a:avLst/>
          </a:prstGeom>
          <a:noFill/>
        </p:spPr>
        <p:txBody>
          <a:bodyPr wrap="square">
            <a:spAutoFit/>
          </a:bodyPr>
          <a:lstStyle/>
          <a:p>
            <a:pPr algn="l"/>
            <a:r>
              <a:rPr sz="1100" b="0" i="0">
                <a:solidFill>
                  <a:srgbClr val="FFFFFF"/>
                </a:solidFill>
                <a:latin typeface="Calibri"/>
              </a:rPr>
              <a:t>Hệ số làm nguội  —  Tốc độ giảm nhiệt sau mỗi vòng lặp</a:t>
            </a:r>
          </a:p>
        </p:txBody>
      </p:sp>
      <p:sp>
        <p:nvSpPr>
          <p:cNvPr id="18" name="Rectangle 17"/>
          <p:cNvSpPr/>
          <p:nvPr/>
        </p:nvSpPr>
        <p:spPr>
          <a:xfrm>
            <a:off x="594360" y="4553712"/>
            <a:ext cx="1463040" cy="384048"/>
          </a:xfrm>
          <a:prstGeom prst="rect">
            <a:avLst/>
          </a:prstGeom>
          <a:solidFill>
            <a:srgbClr val="1A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553712"/>
            <a:ext cx="1463040" cy="384048"/>
          </a:xfrm>
          <a:prstGeom prst="rect">
            <a:avLst/>
          </a:prstGeom>
          <a:noFill/>
        </p:spPr>
        <p:txBody>
          <a:bodyPr wrap="square">
            <a:spAutoFit/>
          </a:bodyPr>
          <a:lstStyle/>
          <a:p>
            <a:pPr algn="ctr"/>
            <a:r>
              <a:rPr sz="1100" b="1" i="0">
                <a:solidFill>
                  <a:srgbClr val="60A5FA"/>
                </a:solidFill>
                <a:latin typeface="Courier New"/>
              </a:rPr>
              <a:t>min_t = 0.01</a:t>
            </a:r>
          </a:p>
        </p:txBody>
      </p:sp>
      <p:sp>
        <p:nvSpPr>
          <p:cNvPr id="20" name="TextBox 19"/>
          <p:cNvSpPr txBox="1"/>
          <p:nvPr/>
        </p:nvSpPr>
        <p:spPr>
          <a:xfrm>
            <a:off x="2148840" y="4553712"/>
            <a:ext cx="3749039" cy="384048"/>
          </a:xfrm>
          <a:prstGeom prst="rect">
            <a:avLst/>
          </a:prstGeom>
          <a:noFill/>
        </p:spPr>
        <p:txBody>
          <a:bodyPr wrap="square">
            <a:spAutoFit/>
          </a:bodyPr>
          <a:lstStyle/>
          <a:p>
            <a:pPr algn="l"/>
            <a:r>
              <a:rPr sz="1100" b="0" i="0">
                <a:solidFill>
                  <a:srgbClr val="FFFFFF"/>
                </a:solidFill>
                <a:latin typeface="Calibri"/>
              </a:rPr>
              <a:t>Ngưỡng dừng  —  Dừng khi nhiệt độ đủ thấp</a:t>
            </a:r>
          </a:p>
        </p:txBody>
      </p:sp>
      <p:sp>
        <p:nvSpPr>
          <p:cNvPr id="21" name="Rectangle 20"/>
          <p:cNvSpPr/>
          <p:nvPr/>
        </p:nvSpPr>
        <p:spPr>
          <a:xfrm>
            <a:off x="594360" y="5084064"/>
            <a:ext cx="1463040" cy="384048"/>
          </a:xfrm>
          <a:prstGeom prst="rect">
            <a:avLst/>
          </a:prstGeom>
          <a:solidFill>
            <a:srgbClr val="1A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084064"/>
            <a:ext cx="1463040" cy="384048"/>
          </a:xfrm>
          <a:prstGeom prst="rect">
            <a:avLst/>
          </a:prstGeom>
          <a:noFill/>
        </p:spPr>
        <p:txBody>
          <a:bodyPr wrap="square">
            <a:spAutoFit/>
          </a:bodyPr>
          <a:lstStyle/>
          <a:p>
            <a:pPr algn="ctr"/>
            <a:r>
              <a:rPr sz="1100" b="1" i="0">
                <a:solidFill>
                  <a:srgbClr val="60A5FA"/>
                </a:solidFill>
                <a:latin typeface="Courier New"/>
              </a:rPr>
              <a:t>max_iter=100K</a:t>
            </a:r>
          </a:p>
        </p:txBody>
      </p:sp>
      <p:sp>
        <p:nvSpPr>
          <p:cNvPr id="23" name="TextBox 22"/>
          <p:cNvSpPr txBox="1"/>
          <p:nvPr/>
        </p:nvSpPr>
        <p:spPr>
          <a:xfrm>
            <a:off x="2148840" y="5084064"/>
            <a:ext cx="3749039" cy="384048"/>
          </a:xfrm>
          <a:prstGeom prst="rect">
            <a:avLst/>
          </a:prstGeom>
          <a:noFill/>
        </p:spPr>
        <p:txBody>
          <a:bodyPr wrap="square">
            <a:spAutoFit/>
          </a:bodyPr>
          <a:lstStyle/>
          <a:p>
            <a:pPr algn="l"/>
            <a:r>
              <a:rPr sz="1100" b="0" i="0">
                <a:solidFill>
                  <a:srgbClr val="FFFFFF"/>
                </a:solidFill>
                <a:latin typeface="Calibri"/>
              </a:rPr>
              <a:t>Số vòng lặp tối đa  —  Giới hạn thời gian chạy</a:t>
            </a:r>
          </a:p>
        </p:txBody>
      </p:sp>
      <p:sp>
        <p:nvSpPr>
          <p:cNvPr id="24" name="Rectangle 23"/>
          <p:cNvSpPr/>
          <p:nvPr/>
        </p:nvSpPr>
        <p:spPr>
          <a:xfrm>
            <a:off x="6217920" y="1325880"/>
            <a:ext cx="5513832" cy="192024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389888"/>
            <a:ext cx="5303520" cy="320040"/>
          </a:xfrm>
          <a:prstGeom prst="rect">
            <a:avLst/>
          </a:prstGeom>
          <a:noFill/>
        </p:spPr>
        <p:txBody>
          <a:bodyPr wrap="square">
            <a:spAutoFit/>
          </a:bodyPr>
          <a:lstStyle/>
          <a:p>
            <a:pPr algn="l"/>
            <a:r>
              <a:rPr sz="1100" b="1" i="0">
                <a:solidFill>
                  <a:srgbClr val="10B981"/>
                </a:solidFill>
                <a:latin typeface="Calibri"/>
              </a:rPr>
              <a:t>✅  ĐIỀU KIỆN CHẤP NHẬN NGHIỆM MỚI</a:t>
            </a:r>
          </a:p>
        </p:txBody>
      </p:sp>
      <p:sp>
        <p:nvSpPr>
          <p:cNvPr id="26" name="TextBox 25"/>
          <p:cNvSpPr txBox="1"/>
          <p:nvPr/>
        </p:nvSpPr>
        <p:spPr>
          <a:xfrm>
            <a:off x="6355080" y="1755648"/>
            <a:ext cx="5303520" cy="777240"/>
          </a:xfrm>
          <a:prstGeom prst="rect">
            <a:avLst/>
          </a:prstGeom>
          <a:noFill/>
        </p:spPr>
        <p:txBody>
          <a:bodyPr wrap="square">
            <a:spAutoFit/>
          </a:bodyPr>
          <a:lstStyle/>
          <a:p>
            <a:pPr>
              <a:spcBef>
                <a:spcPts val="300"/>
              </a:spcBef>
            </a:pPr>
            <a:r>
              <a:rPr sz="1300" b="1">
                <a:solidFill>
                  <a:srgbClr val="10B981"/>
                </a:solidFill>
                <a:latin typeface="Calibri"/>
              </a:rPr>
              <a:t>Nghiệm mới TỐT HƠN  →  Luôn chấp nhận</a:t>
            </a:r>
          </a:p>
          <a:p>
            <a:pPr>
              <a:spcBef>
                <a:spcPts val="300"/>
              </a:spcBef>
            </a:pPr>
            <a:r>
              <a:rPr sz="1300" b="1">
                <a:solidFill>
                  <a:srgbClr val="F59E0B"/>
                </a:solidFill>
                <a:latin typeface="Calibri"/>
              </a:rPr>
              <a:t>Nghiệm mới KÉM HƠN  →  Chấp nhận với xác suất:</a:t>
            </a:r>
          </a:p>
        </p:txBody>
      </p:sp>
      <p:sp>
        <p:nvSpPr>
          <p:cNvPr id="27" name="Rectangle 26"/>
          <p:cNvSpPr/>
          <p:nvPr/>
        </p:nvSpPr>
        <p:spPr>
          <a:xfrm>
            <a:off x="6355080" y="2578608"/>
            <a:ext cx="5212080" cy="548640"/>
          </a:xfrm>
          <a:prstGeom prst="rect">
            <a:avLst/>
          </a:prstGeom>
          <a:solidFill>
            <a:srgbClr val="101C40"/>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633472"/>
            <a:ext cx="5120640" cy="457200"/>
          </a:xfrm>
          <a:prstGeom prst="rect">
            <a:avLst/>
          </a:prstGeom>
          <a:noFill/>
        </p:spPr>
        <p:txBody>
          <a:bodyPr wrap="square">
            <a:spAutoFit/>
          </a:bodyPr>
          <a:lstStyle/>
          <a:p>
            <a:pPr algn="ctr"/>
            <a:r>
              <a:rPr sz="1800" b="1" i="0">
                <a:solidFill>
                  <a:srgbClr val="60A5FA"/>
                </a:solidFill>
                <a:latin typeface="Courier New"/>
              </a:rPr>
              <a:t>           P = e^(−Δd / T)</a:t>
            </a:r>
          </a:p>
        </p:txBody>
      </p:sp>
      <p:sp>
        <p:nvSpPr>
          <p:cNvPr id="29" name="Rectangle 28"/>
          <p:cNvSpPr/>
          <p:nvPr/>
        </p:nvSpPr>
        <p:spPr>
          <a:xfrm>
            <a:off x="6217920" y="3246120"/>
            <a:ext cx="5513832" cy="2468880"/>
          </a:xfrm>
          <a:prstGeom prst="rect">
            <a:avLst/>
          </a:prstGeom>
          <a:solidFill>
            <a:srgbClr val="0A101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310128"/>
            <a:ext cx="5303520" cy="274320"/>
          </a:xfrm>
          <a:prstGeom prst="rect">
            <a:avLst/>
          </a:prstGeom>
          <a:noFill/>
        </p:spPr>
        <p:txBody>
          <a:bodyPr wrap="square">
            <a:spAutoFit/>
          </a:bodyPr>
          <a:lstStyle/>
          <a:p>
            <a:pPr algn="l"/>
            <a:r>
              <a:rPr sz="1000" b="0" i="0">
                <a:solidFill>
                  <a:srgbClr val="6272A4"/>
                </a:solidFill>
                <a:latin typeface="Courier New"/>
              </a:rPr>
              <a:t>#  Trích từ sa_solver.py</a:t>
            </a:r>
          </a:p>
        </p:txBody>
      </p:sp>
      <p:sp>
        <p:nvSpPr>
          <p:cNvPr id="31" name="TextBox 30"/>
          <p:cNvSpPr txBox="1"/>
          <p:nvPr/>
        </p:nvSpPr>
        <p:spPr>
          <a:xfrm>
            <a:off x="6355080" y="3611880"/>
            <a:ext cx="5303520" cy="2011680"/>
          </a:xfrm>
          <a:prstGeom prst="rect">
            <a:avLst/>
          </a:prstGeom>
          <a:noFill/>
        </p:spPr>
        <p:txBody>
          <a:bodyPr wrap="square">
            <a:spAutoFit/>
          </a:bodyPr>
          <a:lstStyle/>
          <a:p>
            <a:pPr>
              <a:spcBef>
                <a:spcPts val="300"/>
              </a:spcBef>
            </a:pPr>
            <a:r>
              <a:rPr sz="1100" b="0">
                <a:solidFill>
                  <a:srgbClr val="94A3B8"/>
                </a:solidFill>
                <a:latin typeface="Courier New"/>
              </a:rPr>
              <a:t>delta = new_dist - self.current_dist</a:t>
            </a:r>
          </a:p>
          <a:p>
            <a:pPr>
              <a:spcBef>
                <a:spcPts val="300"/>
              </a:spcBef>
            </a:pPr>
            <a:r>
              <a:rPr sz="600" b="0">
                <a:solidFill>
                  <a:srgbClr val="FFFFFF"/>
                </a:solidFill>
                <a:latin typeface="Courier New"/>
              </a:rPr>
              <a:t/>
            </a:r>
          </a:p>
          <a:p>
            <a:pPr>
              <a:spcBef>
                <a:spcPts val="300"/>
              </a:spcBef>
            </a:pPr>
            <a:r>
              <a:rPr sz="1100" b="0">
                <a:solidFill>
                  <a:srgbClr val="FFFFFF"/>
                </a:solidFill>
                <a:latin typeface="Courier New"/>
              </a:rPr>
              <a:t>if delta &lt; 0 or random.random() &lt; math.exp</a:t>
            </a:r>
          </a:p>
          <a:p>
            <a:pPr>
              <a:spcBef>
                <a:spcPts val="300"/>
              </a:spcBef>
            </a:pPr>
            <a:r>
              <a:rPr sz="1100" b="0">
                <a:solidFill>
                  <a:srgbClr val="FFFFFF"/>
                </a:solidFill>
                <a:latin typeface="Courier New"/>
              </a:rPr>
              <a:t>        (-delta / self.t):</a:t>
            </a:r>
          </a:p>
          <a:p>
            <a:pPr>
              <a:spcBef>
                <a:spcPts val="300"/>
              </a:spcBef>
            </a:pPr>
            <a:r>
              <a:rPr sz="1100" b="0">
                <a:solidFill>
                  <a:srgbClr val="10B981"/>
                </a:solidFill>
                <a:latin typeface="Courier New"/>
              </a:rPr>
              <a:t>    self.current_route = new_route</a:t>
            </a:r>
          </a:p>
          <a:p>
            <a:pPr>
              <a:spcBef>
                <a:spcPts val="300"/>
              </a:spcBef>
            </a:pPr>
            <a:r>
              <a:rPr sz="1100" b="0">
                <a:solidFill>
                  <a:srgbClr val="10B981"/>
                </a:solidFill>
                <a:latin typeface="Courier New"/>
              </a:rPr>
              <a:t>    self.current_dist  = new_dist</a:t>
            </a:r>
          </a:p>
          <a:p>
            <a:pPr>
              <a:spcBef>
                <a:spcPts val="300"/>
              </a:spcBef>
            </a:pPr>
            <a:r>
              <a:rPr sz="600" b="0">
                <a:solidFill>
                  <a:srgbClr val="FFFFFF"/>
                </a:solidFill>
                <a:latin typeface="Courier New"/>
              </a:rPr>
              <a:t/>
            </a:r>
          </a:p>
          <a:p>
            <a:pPr>
              <a:spcBef>
                <a:spcPts val="300"/>
              </a:spcBef>
            </a:pPr>
            <a:r>
              <a:rPr sz="1100" b="0">
                <a:solidFill>
                  <a:srgbClr val="6272A4"/>
                </a:solidFill>
                <a:latin typeface="Courier New"/>
              </a:rPr>
              <a:t># Hạ nhiệt sau mỗi vòng lặp</a:t>
            </a:r>
          </a:p>
          <a:p>
            <a:pPr>
              <a:spcBef>
                <a:spcPts val="300"/>
              </a:spcBef>
            </a:pPr>
            <a:r>
              <a:rPr sz="1100" b="0">
                <a:solidFill>
                  <a:srgbClr val="60A5FA"/>
                </a:solidFill>
                <a:latin typeface="Courier New"/>
              </a:rPr>
              <a:t>self.t *= self.alpha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Cơ chế Láng giềng — 2-opt Swap</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04 / 07</a:t>
            </a:r>
          </a:p>
        </p:txBody>
      </p:sp>
      <p:sp>
        <p:nvSpPr>
          <p:cNvPr id="7" name="Rectangle 6"/>
          <p:cNvSpPr/>
          <p:nvPr/>
        </p:nvSpPr>
        <p:spPr>
          <a:xfrm>
            <a:off x="457200" y="1325880"/>
            <a:ext cx="5303520" cy="32461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89888"/>
            <a:ext cx="5029200" cy="320040"/>
          </a:xfrm>
          <a:prstGeom prst="rect">
            <a:avLst/>
          </a:prstGeom>
          <a:noFill/>
        </p:spPr>
        <p:txBody>
          <a:bodyPr wrap="square">
            <a:spAutoFit/>
          </a:bodyPr>
          <a:lstStyle/>
          <a:p>
            <a:pPr algn="l"/>
            <a:r>
              <a:rPr sz="1100" b="1" i="0">
                <a:solidFill>
                  <a:srgbClr val="10B981"/>
                </a:solidFill>
                <a:latin typeface="Calibri"/>
              </a:rPr>
              <a:t>📋  CÁCH HOẠT ĐỘNG</a:t>
            </a:r>
          </a:p>
        </p:txBody>
      </p:sp>
      <p:sp>
        <p:nvSpPr>
          <p:cNvPr id="9" name="TextBox 8"/>
          <p:cNvSpPr txBox="1"/>
          <p:nvPr/>
        </p:nvSpPr>
        <p:spPr>
          <a:xfrm>
            <a:off x="594360" y="1755648"/>
            <a:ext cx="5029200" cy="2651760"/>
          </a:xfrm>
          <a:prstGeom prst="rect">
            <a:avLst/>
          </a:prstGeom>
          <a:noFill/>
        </p:spPr>
        <p:txBody>
          <a:bodyPr wrap="square">
            <a:spAutoFit/>
          </a:bodyPr>
          <a:lstStyle/>
          <a:p>
            <a:pPr>
              <a:spcBef>
                <a:spcPts val="300"/>
              </a:spcBef>
            </a:pPr>
            <a:r>
              <a:rPr sz="1300" b="0">
                <a:solidFill>
                  <a:srgbClr val="FFFFFF"/>
                </a:solidFill>
                <a:latin typeface="Calibri"/>
              </a:rPr>
              <a:t>1. Chọn ngẫu nhiên hai chỉ số i và j (i &lt; j)</a:t>
            </a:r>
          </a:p>
          <a:p>
            <a:pPr>
              <a:spcBef>
                <a:spcPts val="300"/>
              </a:spcBef>
            </a:pPr>
            <a:r>
              <a:rPr sz="1300" b="0">
                <a:solidFill>
                  <a:srgbClr val="FFFFFF"/>
                </a:solidFill>
                <a:latin typeface="Calibri"/>
              </a:rPr>
              <a:t>2. Đảo ngược (reverse) đoạn route[i .. j]</a:t>
            </a:r>
          </a:p>
          <a:p>
            <a:pPr>
              <a:spcBef>
                <a:spcPts val="300"/>
              </a:spcBef>
            </a:pPr>
            <a:r>
              <a:rPr sz="1300" b="1">
                <a:solidFill>
                  <a:srgbClr val="F59E0B"/>
                </a:solidFill>
                <a:latin typeface="Calibri"/>
              </a:rPr>
              <a:t>3. Điểm xuất phát (index 0) luôn được CỐ ĐỊNH</a:t>
            </a:r>
          </a:p>
          <a:p>
            <a:pPr>
              <a:spcBef>
                <a:spcPts val="300"/>
              </a:spcBef>
            </a:pPr>
            <a:r>
              <a:rPr sz="1300" b="0">
                <a:solidFill>
                  <a:srgbClr val="FFFFFF"/>
                </a:solidFill>
                <a:latin typeface="Calibri"/>
              </a:rPr>
              <a:t>4. Tính khoảng cách mới → so sánh → quyết định</a:t>
            </a:r>
          </a:p>
          <a:p>
            <a:pPr>
              <a:spcBef>
                <a:spcPts val="300"/>
              </a:spcBef>
            </a:pPr>
            <a:r>
              <a:rPr sz="600" b="0">
                <a:solidFill>
                  <a:srgbClr val="94A3B8"/>
                </a:solidFill>
                <a:latin typeface="Calibri"/>
              </a:rPr>
              <a:t/>
            </a:r>
          </a:p>
          <a:p>
            <a:pPr>
              <a:spcBef>
                <a:spcPts val="300"/>
              </a:spcBef>
            </a:pPr>
            <a:r>
              <a:rPr sz="1200" b="0">
                <a:solidFill>
                  <a:srgbClr val="10B981"/>
                </a:solidFill>
                <a:latin typeface="Calibri"/>
              </a:rPr>
              <a:t>✔  Đơn giản, không tốn bộ nhớ</a:t>
            </a:r>
          </a:p>
          <a:p>
            <a:pPr>
              <a:spcBef>
                <a:spcPts val="300"/>
              </a:spcBef>
            </a:pPr>
            <a:r>
              <a:rPr sz="1200" b="0">
                <a:solidFill>
                  <a:srgbClr val="10B981"/>
                </a:solidFill>
                <a:latin typeface="Calibri"/>
              </a:rPr>
              <a:t>✔  Hiệu quả gỡ 'đường chéo nhau'</a:t>
            </a:r>
          </a:p>
          <a:p>
            <a:pPr>
              <a:spcBef>
                <a:spcPts val="300"/>
              </a:spcBef>
            </a:pPr>
            <a:r>
              <a:rPr sz="1200" b="0">
                <a:solidFill>
                  <a:srgbClr val="10B981"/>
                </a:solidFill>
                <a:latin typeface="Calibri"/>
              </a:rPr>
              <a:t>✔  Phù hợp với TSP thực tế</a:t>
            </a:r>
          </a:p>
          <a:p>
            <a:pPr>
              <a:spcBef>
                <a:spcPts val="300"/>
              </a:spcBef>
            </a:pPr>
            <a:r>
              <a:rPr sz="1200" b="0">
                <a:solidFill>
                  <a:srgbClr val="10B981"/>
                </a:solidFill>
                <a:latin typeface="Calibri"/>
              </a:rPr>
              <a:t>✔  Dễ kết hợp với SA</a:t>
            </a:r>
          </a:p>
        </p:txBody>
      </p:sp>
      <p:sp>
        <p:nvSpPr>
          <p:cNvPr id="10" name="Rectangle 9"/>
          <p:cNvSpPr/>
          <p:nvPr/>
        </p:nvSpPr>
        <p:spPr>
          <a:xfrm>
            <a:off x="457200" y="4663440"/>
            <a:ext cx="5303520" cy="1920240"/>
          </a:xfrm>
          <a:prstGeom prst="rect">
            <a:avLst/>
          </a:prstGeom>
          <a:solidFill>
            <a:srgbClr val="0A101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5029200" cy="274320"/>
          </a:xfrm>
          <a:prstGeom prst="rect">
            <a:avLst/>
          </a:prstGeom>
          <a:noFill/>
        </p:spPr>
        <p:txBody>
          <a:bodyPr wrap="square">
            <a:spAutoFit/>
          </a:bodyPr>
          <a:lstStyle/>
          <a:p>
            <a:pPr algn="l"/>
            <a:r>
              <a:rPr sz="1000" b="0" i="0">
                <a:solidFill>
                  <a:srgbClr val="6272A4"/>
                </a:solidFill>
                <a:latin typeface="Courier New"/>
              </a:rPr>
              <a:t>#  Trích từ sa_solver.py  —  get_neighbor()</a:t>
            </a:r>
          </a:p>
        </p:txBody>
      </p:sp>
      <p:sp>
        <p:nvSpPr>
          <p:cNvPr id="12" name="TextBox 11"/>
          <p:cNvSpPr txBox="1"/>
          <p:nvPr/>
        </p:nvSpPr>
        <p:spPr>
          <a:xfrm>
            <a:off x="594360" y="5029200"/>
            <a:ext cx="5029200" cy="1417320"/>
          </a:xfrm>
          <a:prstGeom prst="rect">
            <a:avLst/>
          </a:prstGeom>
          <a:noFill/>
        </p:spPr>
        <p:txBody>
          <a:bodyPr wrap="square">
            <a:spAutoFit/>
          </a:bodyPr>
          <a:lstStyle/>
          <a:p>
            <a:pPr>
              <a:spcBef>
                <a:spcPts val="300"/>
              </a:spcBef>
            </a:pPr>
            <a:r>
              <a:rPr sz="1100" b="0">
                <a:solidFill>
                  <a:srgbClr val="8BE9FD"/>
                </a:solidFill>
                <a:latin typeface="Courier New"/>
              </a:rPr>
              <a:t>start_range = 1 if self.start_index is not None else 0</a:t>
            </a:r>
          </a:p>
          <a:p>
            <a:pPr>
              <a:spcBef>
                <a:spcPts val="300"/>
              </a:spcBef>
            </a:pPr>
            <a:r>
              <a:rPr sz="1100" b="0">
                <a:solidFill>
                  <a:srgbClr val="FFFFFF"/>
                </a:solidFill>
                <a:latin typeface="Courier New"/>
              </a:rPr>
              <a:t>i, j = random.sample(range(start_range, len(route)), 2)</a:t>
            </a:r>
          </a:p>
          <a:p>
            <a:pPr>
              <a:spcBef>
                <a:spcPts val="300"/>
              </a:spcBef>
            </a:pPr>
            <a:r>
              <a:rPr sz="1100" b="0">
                <a:solidFill>
                  <a:srgbClr val="94A3B8"/>
                </a:solidFill>
                <a:latin typeface="Courier New"/>
              </a:rPr>
              <a:t>if i &gt; j:  i, j = j, i</a:t>
            </a:r>
          </a:p>
          <a:p>
            <a:pPr>
              <a:spcBef>
                <a:spcPts val="300"/>
              </a:spcBef>
            </a:pPr>
            <a:r>
              <a:rPr sz="500" b="0">
                <a:solidFill>
                  <a:srgbClr val="FFFFFF"/>
                </a:solidFill>
                <a:latin typeface="Courier New"/>
              </a:rPr>
              <a:t/>
            </a:r>
          </a:p>
          <a:p>
            <a:pPr>
              <a:spcBef>
                <a:spcPts val="300"/>
              </a:spcBef>
            </a:pPr>
            <a:r>
              <a:rPr sz="1100" b="0">
                <a:solidFill>
                  <a:srgbClr val="6272A4"/>
                </a:solidFill>
                <a:latin typeface="Courier New"/>
              </a:rPr>
              <a:t># Đảo ngược đoạn từ i đến j (2-opt)</a:t>
            </a:r>
          </a:p>
          <a:p>
            <a:pPr>
              <a:spcBef>
                <a:spcPts val="300"/>
              </a:spcBef>
            </a:pPr>
            <a:r>
              <a:rPr sz="1100" b="1">
                <a:solidFill>
                  <a:srgbClr val="10B981"/>
                </a:solidFill>
                <a:latin typeface="Courier New"/>
              </a:rPr>
              <a:t>new_route[i:j+1] = reversed(new_route[i:j+1])</a:t>
            </a:r>
          </a:p>
        </p:txBody>
      </p:sp>
      <p:sp>
        <p:nvSpPr>
          <p:cNvPr id="13" name="Rectangle 12"/>
          <p:cNvSpPr/>
          <p:nvPr/>
        </p:nvSpPr>
        <p:spPr>
          <a:xfrm>
            <a:off x="5943600" y="1325880"/>
            <a:ext cx="5788152" cy="53035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1389888"/>
            <a:ext cx="5486400" cy="320040"/>
          </a:xfrm>
          <a:prstGeom prst="rect">
            <a:avLst/>
          </a:prstGeom>
          <a:noFill/>
        </p:spPr>
        <p:txBody>
          <a:bodyPr wrap="square">
            <a:spAutoFit/>
          </a:bodyPr>
          <a:lstStyle/>
          <a:p>
            <a:pPr algn="l"/>
            <a:r>
              <a:rPr sz="1100" b="1" i="0">
                <a:solidFill>
                  <a:srgbClr val="10B981"/>
                </a:solidFill>
                <a:latin typeface="Calibri"/>
              </a:rPr>
              <a:t>🔄  MINH HỌA 2-OPT SWAP</a:t>
            </a:r>
          </a:p>
        </p:txBody>
      </p:sp>
      <p:sp>
        <p:nvSpPr>
          <p:cNvPr id="15" name="TextBox 14"/>
          <p:cNvSpPr txBox="1"/>
          <p:nvPr/>
        </p:nvSpPr>
        <p:spPr>
          <a:xfrm>
            <a:off x="6080760" y="1801368"/>
            <a:ext cx="5486400" cy="320040"/>
          </a:xfrm>
          <a:prstGeom prst="rect">
            <a:avLst/>
          </a:prstGeom>
          <a:noFill/>
        </p:spPr>
        <p:txBody>
          <a:bodyPr wrap="square">
            <a:spAutoFit/>
          </a:bodyPr>
          <a:lstStyle/>
          <a:p>
            <a:pPr algn="l"/>
            <a:r>
              <a:rPr sz="1000" b="1" i="0">
                <a:solidFill>
                  <a:srgbClr val="94A3B8"/>
                </a:solidFill>
                <a:latin typeface="Calibri"/>
              </a:rPr>
              <a:t>TRƯỚC KHI SWAP:</a:t>
            </a:r>
          </a:p>
        </p:txBody>
      </p:sp>
      <p:sp>
        <p:nvSpPr>
          <p:cNvPr id="16" name="Rectangle 15"/>
          <p:cNvSpPr/>
          <p:nvPr/>
        </p:nvSpPr>
        <p:spPr>
          <a:xfrm>
            <a:off x="6309360" y="217627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176272"/>
            <a:ext cx="457200" cy="457200"/>
          </a:xfrm>
          <a:prstGeom prst="rect">
            <a:avLst/>
          </a:prstGeom>
          <a:noFill/>
        </p:spPr>
        <p:txBody>
          <a:bodyPr wrap="square">
            <a:spAutoFit/>
          </a:bodyPr>
          <a:lstStyle/>
          <a:p>
            <a:pPr algn="ctr"/>
            <a:r>
              <a:rPr sz="1400" b="1" i="0">
                <a:solidFill>
                  <a:srgbClr val="3B82F6"/>
                </a:solidFill>
                <a:latin typeface="Calibri"/>
              </a:rPr>
              <a:t>A</a:t>
            </a:r>
          </a:p>
        </p:txBody>
      </p:sp>
      <p:sp>
        <p:nvSpPr>
          <p:cNvPr id="18" name="Rectangle 17"/>
          <p:cNvSpPr/>
          <p:nvPr/>
        </p:nvSpPr>
        <p:spPr>
          <a:xfrm>
            <a:off x="7223760" y="217627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2176272"/>
            <a:ext cx="457200" cy="457200"/>
          </a:xfrm>
          <a:prstGeom prst="rect">
            <a:avLst/>
          </a:prstGeom>
          <a:noFill/>
        </p:spPr>
        <p:txBody>
          <a:bodyPr wrap="square">
            <a:spAutoFit/>
          </a:bodyPr>
          <a:lstStyle/>
          <a:p>
            <a:pPr algn="ctr"/>
            <a:r>
              <a:rPr sz="1400" b="1" i="0">
                <a:solidFill>
                  <a:srgbClr val="3B82F6"/>
                </a:solidFill>
                <a:latin typeface="Calibri"/>
              </a:rPr>
              <a:t>B</a:t>
            </a:r>
          </a:p>
        </p:txBody>
      </p:sp>
      <p:sp>
        <p:nvSpPr>
          <p:cNvPr id="20" name="Rectangle 19"/>
          <p:cNvSpPr/>
          <p:nvPr/>
        </p:nvSpPr>
        <p:spPr>
          <a:xfrm>
            <a:off x="8138160" y="217627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2176272"/>
            <a:ext cx="457200" cy="457200"/>
          </a:xfrm>
          <a:prstGeom prst="rect">
            <a:avLst/>
          </a:prstGeom>
          <a:noFill/>
        </p:spPr>
        <p:txBody>
          <a:bodyPr wrap="square">
            <a:spAutoFit/>
          </a:bodyPr>
          <a:lstStyle/>
          <a:p>
            <a:pPr algn="ctr"/>
            <a:r>
              <a:rPr sz="1400" b="1" i="0">
                <a:solidFill>
                  <a:srgbClr val="F59E0B"/>
                </a:solidFill>
                <a:latin typeface="Calibri"/>
              </a:rPr>
              <a:t>C</a:t>
            </a:r>
          </a:p>
        </p:txBody>
      </p:sp>
      <p:sp>
        <p:nvSpPr>
          <p:cNvPr id="22" name="Rectangle 21"/>
          <p:cNvSpPr/>
          <p:nvPr/>
        </p:nvSpPr>
        <p:spPr>
          <a:xfrm>
            <a:off x="9052560" y="217627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2176272"/>
            <a:ext cx="457200" cy="457200"/>
          </a:xfrm>
          <a:prstGeom prst="rect">
            <a:avLst/>
          </a:prstGeom>
          <a:noFill/>
        </p:spPr>
        <p:txBody>
          <a:bodyPr wrap="square">
            <a:spAutoFit/>
          </a:bodyPr>
          <a:lstStyle/>
          <a:p>
            <a:pPr algn="ctr"/>
            <a:r>
              <a:rPr sz="1400" b="1" i="0">
                <a:solidFill>
                  <a:srgbClr val="F59E0B"/>
                </a:solidFill>
                <a:latin typeface="Calibri"/>
              </a:rPr>
              <a:t>D</a:t>
            </a:r>
          </a:p>
        </p:txBody>
      </p:sp>
      <p:sp>
        <p:nvSpPr>
          <p:cNvPr id="24" name="Rectangle 23"/>
          <p:cNvSpPr/>
          <p:nvPr/>
        </p:nvSpPr>
        <p:spPr>
          <a:xfrm>
            <a:off x="9966960" y="217627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66960" y="2176272"/>
            <a:ext cx="457200" cy="457200"/>
          </a:xfrm>
          <a:prstGeom prst="rect">
            <a:avLst/>
          </a:prstGeom>
          <a:noFill/>
        </p:spPr>
        <p:txBody>
          <a:bodyPr wrap="square">
            <a:spAutoFit/>
          </a:bodyPr>
          <a:lstStyle/>
          <a:p>
            <a:pPr algn="ctr"/>
            <a:r>
              <a:rPr sz="1400" b="1" i="0">
                <a:solidFill>
                  <a:srgbClr val="3B82F6"/>
                </a:solidFill>
                <a:latin typeface="Calibri"/>
              </a:rPr>
              <a:t>E</a:t>
            </a:r>
          </a:p>
        </p:txBody>
      </p:sp>
      <p:sp>
        <p:nvSpPr>
          <p:cNvPr id="26" name="TextBox 25"/>
          <p:cNvSpPr txBox="1"/>
          <p:nvPr/>
        </p:nvSpPr>
        <p:spPr>
          <a:xfrm>
            <a:off x="6080760" y="2715768"/>
            <a:ext cx="5486400" cy="320040"/>
          </a:xfrm>
          <a:prstGeom prst="rect">
            <a:avLst/>
          </a:prstGeom>
          <a:noFill/>
        </p:spPr>
        <p:txBody>
          <a:bodyPr wrap="square">
            <a:spAutoFit/>
          </a:bodyPr>
          <a:lstStyle/>
          <a:p>
            <a:pPr algn="l"/>
            <a:r>
              <a:rPr sz="1200" b="0" i="0">
                <a:solidFill>
                  <a:srgbClr val="94A3B8"/>
                </a:solidFill>
                <a:latin typeface="Courier New"/>
              </a:rPr>
              <a:t>A → B → C → D → E → A</a:t>
            </a:r>
          </a:p>
        </p:txBody>
      </p:sp>
      <p:sp>
        <p:nvSpPr>
          <p:cNvPr id="27" name="TextBox 26"/>
          <p:cNvSpPr txBox="1"/>
          <p:nvPr/>
        </p:nvSpPr>
        <p:spPr>
          <a:xfrm>
            <a:off x="6080760" y="3127248"/>
            <a:ext cx="5486400" cy="347472"/>
          </a:xfrm>
          <a:prstGeom prst="rect">
            <a:avLst/>
          </a:prstGeom>
          <a:noFill/>
        </p:spPr>
        <p:txBody>
          <a:bodyPr wrap="square">
            <a:spAutoFit/>
          </a:bodyPr>
          <a:lstStyle/>
          <a:p>
            <a:pPr algn="l"/>
            <a:r>
              <a:rPr sz="1200" b="1" i="0">
                <a:solidFill>
                  <a:srgbClr val="60A5FA"/>
                </a:solidFill>
                <a:latin typeface="Calibri"/>
              </a:rPr>
              <a:t>⬇  Swap đoạn [i=2, j=3] (C và D)</a:t>
            </a:r>
          </a:p>
        </p:txBody>
      </p:sp>
      <p:sp>
        <p:nvSpPr>
          <p:cNvPr id="28" name="TextBox 27"/>
          <p:cNvSpPr txBox="1"/>
          <p:nvPr/>
        </p:nvSpPr>
        <p:spPr>
          <a:xfrm>
            <a:off x="6080760" y="3547872"/>
            <a:ext cx="5486400" cy="320040"/>
          </a:xfrm>
          <a:prstGeom prst="rect">
            <a:avLst/>
          </a:prstGeom>
          <a:noFill/>
        </p:spPr>
        <p:txBody>
          <a:bodyPr wrap="square">
            <a:spAutoFit/>
          </a:bodyPr>
          <a:lstStyle/>
          <a:p>
            <a:pPr algn="l"/>
            <a:r>
              <a:rPr sz="1000" b="1" i="0">
                <a:solidFill>
                  <a:srgbClr val="94A3B8"/>
                </a:solidFill>
                <a:latin typeface="Calibri"/>
              </a:rPr>
              <a:t>SAU KHI SWAP:</a:t>
            </a:r>
          </a:p>
        </p:txBody>
      </p:sp>
      <p:sp>
        <p:nvSpPr>
          <p:cNvPr id="29" name="Rectangle 28"/>
          <p:cNvSpPr/>
          <p:nvPr/>
        </p:nvSpPr>
        <p:spPr>
          <a:xfrm>
            <a:off x="6309360" y="391363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3913632"/>
            <a:ext cx="457200" cy="457200"/>
          </a:xfrm>
          <a:prstGeom prst="rect">
            <a:avLst/>
          </a:prstGeom>
          <a:noFill/>
        </p:spPr>
        <p:txBody>
          <a:bodyPr wrap="square">
            <a:spAutoFit/>
          </a:bodyPr>
          <a:lstStyle/>
          <a:p>
            <a:pPr algn="ctr"/>
            <a:r>
              <a:rPr sz="1400" b="1" i="0">
                <a:solidFill>
                  <a:srgbClr val="3B82F6"/>
                </a:solidFill>
                <a:latin typeface="Calibri"/>
              </a:rPr>
              <a:t>A</a:t>
            </a:r>
          </a:p>
        </p:txBody>
      </p:sp>
      <p:sp>
        <p:nvSpPr>
          <p:cNvPr id="31" name="Rectangle 30"/>
          <p:cNvSpPr/>
          <p:nvPr/>
        </p:nvSpPr>
        <p:spPr>
          <a:xfrm>
            <a:off x="7223760" y="391363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0" y="3913632"/>
            <a:ext cx="457200" cy="457200"/>
          </a:xfrm>
          <a:prstGeom prst="rect">
            <a:avLst/>
          </a:prstGeom>
          <a:noFill/>
        </p:spPr>
        <p:txBody>
          <a:bodyPr wrap="square">
            <a:spAutoFit/>
          </a:bodyPr>
          <a:lstStyle/>
          <a:p>
            <a:pPr algn="ctr"/>
            <a:r>
              <a:rPr sz="1400" b="1" i="0">
                <a:solidFill>
                  <a:srgbClr val="3B82F6"/>
                </a:solidFill>
                <a:latin typeface="Calibri"/>
              </a:rPr>
              <a:t>B</a:t>
            </a:r>
          </a:p>
        </p:txBody>
      </p:sp>
      <p:sp>
        <p:nvSpPr>
          <p:cNvPr id="33" name="Rectangle 32"/>
          <p:cNvSpPr/>
          <p:nvPr/>
        </p:nvSpPr>
        <p:spPr>
          <a:xfrm>
            <a:off x="8138160" y="391363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0" y="3913632"/>
            <a:ext cx="457200" cy="457200"/>
          </a:xfrm>
          <a:prstGeom prst="rect">
            <a:avLst/>
          </a:prstGeom>
          <a:noFill/>
        </p:spPr>
        <p:txBody>
          <a:bodyPr wrap="square">
            <a:spAutoFit/>
          </a:bodyPr>
          <a:lstStyle/>
          <a:p>
            <a:pPr algn="ctr"/>
            <a:r>
              <a:rPr sz="1400" b="1" i="0">
                <a:solidFill>
                  <a:srgbClr val="F59E0B"/>
                </a:solidFill>
                <a:latin typeface="Calibri"/>
              </a:rPr>
              <a:t>D</a:t>
            </a:r>
          </a:p>
        </p:txBody>
      </p:sp>
      <p:sp>
        <p:nvSpPr>
          <p:cNvPr id="35" name="Rectangle 34"/>
          <p:cNvSpPr/>
          <p:nvPr/>
        </p:nvSpPr>
        <p:spPr>
          <a:xfrm>
            <a:off x="9052560" y="391363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0" y="3913632"/>
            <a:ext cx="457200" cy="457200"/>
          </a:xfrm>
          <a:prstGeom prst="rect">
            <a:avLst/>
          </a:prstGeom>
          <a:noFill/>
        </p:spPr>
        <p:txBody>
          <a:bodyPr wrap="square">
            <a:spAutoFit/>
          </a:bodyPr>
          <a:lstStyle/>
          <a:p>
            <a:pPr algn="ctr"/>
            <a:r>
              <a:rPr sz="1400" b="1" i="0">
                <a:solidFill>
                  <a:srgbClr val="F59E0B"/>
                </a:solidFill>
                <a:latin typeface="Calibri"/>
              </a:rPr>
              <a:t>C</a:t>
            </a:r>
          </a:p>
        </p:txBody>
      </p:sp>
      <p:sp>
        <p:nvSpPr>
          <p:cNvPr id="37" name="Rectangle 36"/>
          <p:cNvSpPr/>
          <p:nvPr/>
        </p:nvSpPr>
        <p:spPr>
          <a:xfrm>
            <a:off x="9966960" y="3913632"/>
            <a:ext cx="457200" cy="457200"/>
          </a:xfrm>
          <a:prstGeom prst="rect">
            <a:avLst/>
          </a:prstGeom>
          <a:solidFill>
            <a:srgbClr val="1E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66960" y="3913632"/>
            <a:ext cx="457200" cy="457200"/>
          </a:xfrm>
          <a:prstGeom prst="rect">
            <a:avLst/>
          </a:prstGeom>
          <a:noFill/>
        </p:spPr>
        <p:txBody>
          <a:bodyPr wrap="square">
            <a:spAutoFit/>
          </a:bodyPr>
          <a:lstStyle/>
          <a:p>
            <a:pPr algn="ctr"/>
            <a:r>
              <a:rPr sz="1400" b="1" i="0">
                <a:solidFill>
                  <a:srgbClr val="3B82F6"/>
                </a:solidFill>
                <a:latin typeface="Calibri"/>
              </a:rPr>
              <a:t>E</a:t>
            </a:r>
          </a:p>
        </p:txBody>
      </p:sp>
      <p:sp>
        <p:nvSpPr>
          <p:cNvPr id="39" name="TextBox 38"/>
          <p:cNvSpPr txBox="1"/>
          <p:nvPr/>
        </p:nvSpPr>
        <p:spPr>
          <a:xfrm>
            <a:off x="6080760" y="4453128"/>
            <a:ext cx="5486400" cy="320040"/>
          </a:xfrm>
          <a:prstGeom prst="rect">
            <a:avLst/>
          </a:prstGeom>
          <a:noFill/>
        </p:spPr>
        <p:txBody>
          <a:bodyPr wrap="square">
            <a:spAutoFit/>
          </a:bodyPr>
          <a:lstStyle/>
          <a:p>
            <a:pPr algn="l"/>
            <a:r>
              <a:rPr sz="1200" b="0" i="0">
                <a:solidFill>
                  <a:srgbClr val="10B981"/>
                </a:solidFill>
                <a:latin typeface="Courier New"/>
              </a:rPr>
              <a:t>A → B → D → C → E → A</a:t>
            </a:r>
          </a:p>
        </p:txBody>
      </p:sp>
      <p:sp>
        <p:nvSpPr>
          <p:cNvPr id="40" name="Rectangle 39"/>
          <p:cNvSpPr/>
          <p:nvPr/>
        </p:nvSpPr>
        <p:spPr>
          <a:xfrm>
            <a:off x="6080760" y="4892040"/>
            <a:ext cx="5394960" cy="1508760"/>
          </a:xfrm>
          <a:prstGeom prst="rect">
            <a:avLst/>
          </a:prstGeom>
          <a:solidFill>
            <a:srgbClr val="0E201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4956048"/>
            <a:ext cx="5120640" cy="1280160"/>
          </a:xfrm>
          <a:prstGeom prst="rect">
            <a:avLst/>
          </a:prstGeom>
          <a:noFill/>
        </p:spPr>
        <p:txBody>
          <a:bodyPr wrap="square">
            <a:spAutoFit/>
          </a:bodyPr>
          <a:lstStyle/>
          <a:p>
            <a:pPr algn="l"/>
            <a:r>
              <a:rPr sz="1200" b="0" i="0">
                <a:solidFill>
                  <a:srgbClr val="6EE7B7"/>
                </a:solidFill>
                <a:latin typeface="Calibri"/>
              </a:rPr>
              <a:t>✔  Giúp loại bỏ các đường chéo nhau trong lộ trình,
giảm tổng quãng đường đáng kể. Là kỹ thuật cốt lõi
kết hợp với SA để tìm lộ trình tối ưu.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Kiến trúc Hệ thống &amp; Công nghệ sử dụng</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05 / 07</a:t>
            </a:r>
          </a:p>
        </p:txBody>
      </p:sp>
      <p:sp>
        <p:nvSpPr>
          <p:cNvPr id="7" name="Rectangle 6"/>
          <p:cNvSpPr/>
          <p:nvPr/>
        </p:nvSpPr>
        <p:spPr>
          <a:xfrm>
            <a:off x="457200" y="1325880"/>
            <a:ext cx="274320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2743200" cy="640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81328"/>
            <a:ext cx="2743200" cy="502920"/>
          </a:xfrm>
          <a:prstGeom prst="rect">
            <a:avLst/>
          </a:prstGeom>
          <a:noFill/>
        </p:spPr>
        <p:txBody>
          <a:bodyPr wrap="square">
            <a:spAutoFit/>
          </a:bodyPr>
          <a:lstStyle/>
          <a:p>
            <a:pPr algn="ctr"/>
            <a:r>
              <a:rPr sz="2200" b="0" i="0">
                <a:solidFill>
                  <a:srgbClr val="FFFFFF"/>
                </a:solidFill>
                <a:latin typeface="Calibri"/>
              </a:rPr>
              <a:t>⚡</a:t>
            </a:r>
          </a:p>
        </p:txBody>
      </p:sp>
      <p:sp>
        <p:nvSpPr>
          <p:cNvPr id="10" name="TextBox 9"/>
          <p:cNvSpPr txBox="1"/>
          <p:nvPr/>
        </p:nvSpPr>
        <p:spPr>
          <a:xfrm>
            <a:off x="457200" y="1993392"/>
            <a:ext cx="2743200" cy="384048"/>
          </a:xfrm>
          <a:prstGeom prst="rect">
            <a:avLst/>
          </a:prstGeom>
          <a:noFill/>
        </p:spPr>
        <p:txBody>
          <a:bodyPr wrap="square">
            <a:spAutoFit/>
          </a:bodyPr>
          <a:lstStyle/>
          <a:p>
            <a:pPr algn="ctr"/>
            <a:r>
              <a:rPr sz="1600" b="1" i="0">
                <a:solidFill>
                  <a:srgbClr val="FFFFFF"/>
                </a:solidFill>
                <a:latin typeface="Calibri"/>
              </a:rPr>
              <a:t>FastAPI</a:t>
            </a:r>
          </a:p>
        </p:txBody>
      </p:sp>
      <p:sp>
        <p:nvSpPr>
          <p:cNvPr id="11" name="TextBox 10"/>
          <p:cNvSpPr txBox="1"/>
          <p:nvPr/>
        </p:nvSpPr>
        <p:spPr>
          <a:xfrm>
            <a:off x="457200" y="2340864"/>
            <a:ext cx="2743200" cy="320040"/>
          </a:xfrm>
          <a:prstGeom prst="rect">
            <a:avLst/>
          </a:prstGeom>
          <a:noFill/>
        </p:spPr>
        <p:txBody>
          <a:bodyPr wrap="square">
            <a:spAutoFit/>
          </a:bodyPr>
          <a:lstStyle/>
          <a:p>
            <a:pPr algn="ctr"/>
            <a:r>
              <a:rPr sz="1100" b="1" i="0">
                <a:solidFill>
                  <a:srgbClr val="3B82F6"/>
                </a:solidFill>
                <a:latin typeface="Calibri"/>
              </a:rPr>
              <a:t>Backend REST API</a:t>
            </a:r>
          </a:p>
        </p:txBody>
      </p:sp>
      <p:sp>
        <p:nvSpPr>
          <p:cNvPr id="12" name="TextBox 11"/>
          <p:cNvSpPr txBox="1"/>
          <p:nvPr/>
        </p:nvSpPr>
        <p:spPr>
          <a:xfrm>
            <a:off x="457200" y="2651760"/>
            <a:ext cx="2743200" cy="777240"/>
          </a:xfrm>
          <a:prstGeom prst="rect">
            <a:avLst/>
          </a:prstGeom>
          <a:noFill/>
        </p:spPr>
        <p:txBody>
          <a:bodyPr wrap="square">
            <a:spAutoFit/>
          </a:bodyPr>
          <a:lstStyle/>
          <a:p>
            <a:pPr algn="ctr"/>
            <a:r>
              <a:rPr sz="1100" b="0" i="0">
                <a:solidFill>
                  <a:srgbClr val="94A3B8"/>
                </a:solidFill>
                <a:latin typeface="Calibri"/>
              </a:rPr>
              <a:t>Xử lý yêu cầu, endpoint
/optimize &amp; /wards</a:t>
            </a:r>
          </a:p>
        </p:txBody>
      </p:sp>
      <p:sp>
        <p:nvSpPr>
          <p:cNvPr id="13" name="Rectangle 12"/>
          <p:cNvSpPr/>
          <p:nvPr/>
        </p:nvSpPr>
        <p:spPr>
          <a:xfrm>
            <a:off x="3401568" y="1325880"/>
            <a:ext cx="274320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325880"/>
            <a:ext cx="2743200" cy="640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1568" y="1481328"/>
            <a:ext cx="2743200" cy="502920"/>
          </a:xfrm>
          <a:prstGeom prst="rect">
            <a:avLst/>
          </a:prstGeom>
          <a:noFill/>
        </p:spPr>
        <p:txBody>
          <a:bodyPr wrap="square">
            <a:spAutoFit/>
          </a:bodyPr>
          <a:lstStyle/>
          <a:p>
            <a:pPr algn="ctr"/>
            <a:r>
              <a:rPr sz="2200" b="0" i="0">
                <a:solidFill>
                  <a:srgbClr val="FFFFFF"/>
                </a:solidFill>
                <a:latin typeface="Calibri"/>
              </a:rPr>
              <a:t>🎨</a:t>
            </a:r>
          </a:p>
        </p:txBody>
      </p:sp>
      <p:sp>
        <p:nvSpPr>
          <p:cNvPr id="16" name="TextBox 15"/>
          <p:cNvSpPr txBox="1"/>
          <p:nvPr/>
        </p:nvSpPr>
        <p:spPr>
          <a:xfrm>
            <a:off x="3401568" y="1993392"/>
            <a:ext cx="2743200" cy="384048"/>
          </a:xfrm>
          <a:prstGeom prst="rect">
            <a:avLst/>
          </a:prstGeom>
          <a:noFill/>
        </p:spPr>
        <p:txBody>
          <a:bodyPr wrap="square">
            <a:spAutoFit/>
          </a:bodyPr>
          <a:lstStyle/>
          <a:p>
            <a:pPr algn="ctr"/>
            <a:r>
              <a:rPr sz="1600" b="1" i="0">
                <a:solidFill>
                  <a:srgbClr val="FFFFFF"/>
                </a:solidFill>
                <a:latin typeface="Calibri"/>
              </a:rPr>
              <a:t>Streamlit</a:t>
            </a:r>
          </a:p>
        </p:txBody>
      </p:sp>
      <p:sp>
        <p:nvSpPr>
          <p:cNvPr id="17" name="TextBox 16"/>
          <p:cNvSpPr txBox="1"/>
          <p:nvPr/>
        </p:nvSpPr>
        <p:spPr>
          <a:xfrm>
            <a:off x="3401568" y="2340864"/>
            <a:ext cx="2743200" cy="320040"/>
          </a:xfrm>
          <a:prstGeom prst="rect">
            <a:avLst/>
          </a:prstGeom>
          <a:noFill/>
        </p:spPr>
        <p:txBody>
          <a:bodyPr wrap="square">
            <a:spAutoFit/>
          </a:bodyPr>
          <a:lstStyle/>
          <a:p>
            <a:pPr algn="ctr"/>
            <a:r>
              <a:rPr sz="1100" b="1" i="0">
                <a:solidFill>
                  <a:srgbClr val="8B5CF6"/>
                </a:solidFill>
                <a:latin typeface="Calibri"/>
              </a:rPr>
              <a:t>Frontend tương tác</a:t>
            </a:r>
          </a:p>
        </p:txBody>
      </p:sp>
      <p:sp>
        <p:nvSpPr>
          <p:cNvPr id="18" name="TextBox 17"/>
          <p:cNvSpPr txBox="1"/>
          <p:nvPr/>
        </p:nvSpPr>
        <p:spPr>
          <a:xfrm>
            <a:off x="3401568" y="2651760"/>
            <a:ext cx="2743200" cy="777240"/>
          </a:xfrm>
          <a:prstGeom prst="rect">
            <a:avLst/>
          </a:prstGeom>
          <a:noFill/>
        </p:spPr>
        <p:txBody>
          <a:bodyPr wrap="square">
            <a:spAutoFit/>
          </a:bodyPr>
          <a:lstStyle/>
          <a:p>
            <a:pPr algn="ctr"/>
            <a:r>
              <a:rPr sz="1100" b="0" i="0">
                <a:solidFill>
                  <a:srgbClr val="94A3B8"/>
                </a:solidFill>
                <a:latin typeface="Calibri"/>
              </a:rPr>
              <a:t>Giao diện người dùng,
Slider tham số</a:t>
            </a:r>
          </a:p>
        </p:txBody>
      </p:sp>
      <p:sp>
        <p:nvSpPr>
          <p:cNvPr id="19" name="Rectangle 18"/>
          <p:cNvSpPr/>
          <p:nvPr/>
        </p:nvSpPr>
        <p:spPr>
          <a:xfrm>
            <a:off x="6345936" y="1325880"/>
            <a:ext cx="274320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45936" y="1325880"/>
            <a:ext cx="274320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481328"/>
            <a:ext cx="2743200" cy="502920"/>
          </a:xfrm>
          <a:prstGeom prst="rect">
            <a:avLst/>
          </a:prstGeom>
          <a:noFill/>
        </p:spPr>
        <p:txBody>
          <a:bodyPr wrap="square">
            <a:spAutoFit/>
          </a:bodyPr>
          <a:lstStyle/>
          <a:p>
            <a:pPr algn="ctr"/>
            <a:r>
              <a:rPr sz="2200" b="0" i="0">
                <a:solidFill>
                  <a:srgbClr val="FFFFFF"/>
                </a:solidFill>
                <a:latin typeface="Calibri"/>
              </a:rPr>
              <a:t>🗺</a:t>
            </a:r>
          </a:p>
        </p:txBody>
      </p:sp>
      <p:sp>
        <p:nvSpPr>
          <p:cNvPr id="22" name="TextBox 21"/>
          <p:cNvSpPr txBox="1"/>
          <p:nvPr/>
        </p:nvSpPr>
        <p:spPr>
          <a:xfrm>
            <a:off x="6345936" y="1993392"/>
            <a:ext cx="2743200" cy="384048"/>
          </a:xfrm>
          <a:prstGeom prst="rect">
            <a:avLst/>
          </a:prstGeom>
          <a:noFill/>
        </p:spPr>
        <p:txBody>
          <a:bodyPr wrap="square">
            <a:spAutoFit/>
          </a:bodyPr>
          <a:lstStyle/>
          <a:p>
            <a:pPr algn="ctr"/>
            <a:r>
              <a:rPr sz="1600" b="1" i="0">
                <a:solidFill>
                  <a:srgbClr val="FFFFFF"/>
                </a:solidFill>
                <a:latin typeface="Calibri"/>
              </a:rPr>
              <a:t>Folium</a:t>
            </a:r>
          </a:p>
        </p:txBody>
      </p:sp>
      <p:sp>
        <p:nvSpPr>
          <p:cNvPr id="23" name="TextBox 22"/>
          <p:cNvSpPr txBox="1"/>
          <p:nvPr/>
        </p:nvSpPr>
        <p:spPr>
          <a:xfrm>
            <a:off x="6345936" y="2340864"/>
            <a:ext cx="2743200" cy="320040"/>
          </a:xfrm>
          <a:prstGeom prst="rect">
            <a:avLst/>
          </a:prstGeom>
          <a:noFill/>
        </p:spPr>
        <p:txBody>
          <a:bodyPr wrap="square">
            <a:spAutoFit/>
          </a:bodyPr>
          <a:lstStyle/>
          <a:p>
            <a:pPr algn="ctr"/>
            <a:r>
              <a:rPr sz="1100" b="1" i="0">
                <a:solidFill>
                  <a:srgbClr val="10B981"/>
                </a:solidFill>
                <a:latin typeface="Calibri"/>
              </a:rPr>
              <a:t>Bản đồ Leaflet.js</a:t>
            </a:r>
          </a:p>
        </p:txBody>
      </p:sp>
      <p:sp>
        <p:nvSpPr>
          <p:cNvPr id="24" name="TextBox 23"/>
          <p:cNvSpPr txBox="1"/>
          <p:nvPr/>
        </p:nvSpPr>
        <p:spPr>
          <a:xfrm>
            <a:off x="6345936" y="2651760"/>
            <a:ext cx="2743200" cy="777240"/>
          </a:xfrm>
          <a:prstGeom prst="rect">
            <a:avLst/>
          </a:prstGeom>
          <a:noFill/>
        </p:spPr>
        <p:txBody>
          <a:bodyPr wrap="square">
            <a:spAutoFit/>
          </a:bodyPr>
          <a:lstStyle/>
          <a:p>
            <a:pPr algn="ctr"/>
            <a:r>
              <a:rPr sz="1100" b="0" i="0">
                <a:solidFill>
                  <a:srgbClr val="94A3B8"/>
                </a:solidFill>
                <a:latin typeface="Calibri"/>
              </a:rPr>
              <a:t>Hiển thị lộ trình trên
bản đồ thực TP.HCM</a:t>
            </a:r>
          </a:p>
        </p:txBody>
      </p:sp>
      <p:sp>
        <p:nvSpPr>
          <p:cNvPr id="25" name="Rectangle 24"/>
          <p:cNvSpPr/>
          <p:nvPr/>
        </p:nvSpPr>
        <p:spPr>
          <a:xfrm>
            <a:off x="9290304" y="1325880"/>
            <a:ext cx="274320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0304" y="1325880"/>
            <a:ext cx="274320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0304" y="1481328"/>
            <a:ext cx="2743200" cy="502920"/>
          </a:xfrm>
          <a:prstGeom prst="rect">
            <a:avLst/>
          </a:prstGeom>
          <a:noFill/>
        </p:spPr>
        <p:txBody>
          <a:bodyPr wrap="square">
            <a:spAutoFit/>
          </a:bodyPr>
          <a:lstStyle/>
          <a:p>
            <a:pPr algn="ctr"/>
            <a:r>
              <a:rPr sz="2200" b="0" i="0">
                <a:solidFill>
                  <a:srgbClr val="FFFFFF"/>
                </a:solidFill>
                <a:latin typeface="Calibri"/>
              </a:rPr>
              <a:t>📊</a:t>
            </a:r>
          </a:p>
        </p:txBody>
      </p:sp>
      <p:sp>
        <p:nvSpPr>
          <p:cNvPr id="28" name="TextBox 27"/>
          <p:cNvSpPr txBox="1"/>
          <p:nvPr/>
        </p:nvSpPr>
        <p:spPr>
          <a:xfrm>
            <a:off x="9290304" y="1993392"/>
            <a:ext cx="2743200" cy="384048"/>
          </a:xfrm>
          <a:prstGeom prst="rect">
            <a:avLst/>
          </a:prstGeom>
          <a:noFill/>
        </p:spPr>
        <p:txBody>
          <a:bodyPr wrap="square">
            <a:spAutoFit/>
          </a:bodyPr>
          <a:lstStyle/>
          <a:p>
            <a:pPr algn="ctr"/>
            <a:r>
              <a:rPr sz="1600" b="1" i="0">
                <a:solidFill>
                  <a:srgbClr val="FFFFFF"/>
                </a:solidFill>
                <a:latin typeface="Calibri"/>
              </a:rPr>
              <a:t>Plotly</a:t>
            </a:r>
          </a:p>
        </p:txBody>
      </p:sp>
      <p:sp>
        <p:nvSpPr>
          <p:cNvPr id="29" name="TextBox 28"/>
          <p:cNvSpPr txBox="1"/>
          <p:nvPr/>
        </p:nvSpPr>
        <p:spPr>
          <a:xfrm>
            <a:off x="9290304" y="2340864"/>
            <a:ext cx="2743200" cy="320040"/>
          </a:xfrm>
          <a:prstGeom prst="rect">
            <a:avLst/>
          </a:prstGeom>
          <a:noFill/>
        </p:spPr>
        <p:txBody>
          <a:bodyPr wrap="square">
            <a:spAutoFit/>
          </a:bodyPr>
          <a:lstStyle/>
          <a:p>
            <a:pPr algn="ctr"/>
            <a:r>
              <a:rPr sz="1100" b="1" i="0">
                <a:solidFill>
                  <a:srgbClr val="F59E0B"/>
                </a:solidFill>
                <a:latin typeface="Calibri"/>
              </a:rPr>
              <a:t>Đồ thị trực quan</a:t>
            </a:r>
          </a:p>
        </p:txBody>
      </p:sp>
      <p:sp>
        <p:nvSpPr>
          <p:cNvPr id="30" name="TextBox 29"/>
          <p:cNvSpPr txBox="1"/>
          <p:nvPr/>
        </p:nvSpPr>
        <p:spPr>
          <a:xfrm>
            <a:off x="9290304" y="2651760"/>
            <a:ext cx="2743200" cy="777240"/>
          </a:xfrm>
          <a:prstGeom prst="rect">
            <a:avLst/>
          </a:prstGeom>
          <a:noFill/>
        </p:spPr>
        <p:txBody>
          <a:bodyPr wrap="square">
            <a:spAutoFit/>
          </a:bodyPr>
          <a:lstStyle/>
          <a:p>
            <a:pPr algn="ctr"/>
            <a:r>
              <a:rPr sz="1100" b="0" i="0">
                <a:solidFill>
                  <a:srgbClr val="94A3B8"/>
                </a:solidFill>
                <a:latin typeface="Calibri"/>
              </a:rPr>
              <a:t>Theo dõi tiến trình
tối ưu hóa</a:t>
            </a:r>
          </a:p>
        </p:txBody>
      </p:sp>
      <p:sp>
        <p:nvSpPr>
          <p:cNvPr id="31" name="Rectangle 30"/>
          <p:cNvSpPr/>
          <p:nvPr/>
        </p:nvSpPr>
        <p:spPr>
          <a:xfrm>
            <a:off x="457200" y="3749039"/>
            <a:ext cx="11274552" cy="82296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3813048"/>
            <a:ext cx="1371600" cy="320040"/>
          </a:xfrm>
          <a:prstGeom prst="rect">
            <a:avLst/>
          </a:prstGeom>
          <a:noFill/>
        </p:spPr>
        <p:txBody>
          <a:bodyPr wrap="square">
            <a:spAutoFit/>
          </a:bodyPr>
          <a:lstStyle/>
          <a:p>
            <a:pPr algn="l"/>
            <a:r>
              <a:rPr sz="1100" b="1" i="0">
                <a:solidFill>
                  <a:srgbClr val="06B6D4"/>
                </a:solidFill>
                <a:latin typeface="Calibri"/>
              </a:rPr>
              <a:t>⚙  LUỒNG XỬ LÝ:</a:t>
            </a:r>
          </a:p>
        </p:txBody>
      </p:sp>
      <p:sp>
        <p:nvSpPr>
          <p:cNvPr id="33" name="Rectangle 32"/>
          <p:cNvSpPr/>
          <p:nvPr/>
        </p:nvSpPr>
        <p:spPr>
          <a:xfrm>
            <a:off x="2103120" y="3840480"/>
            <a:ext cx="1691640" cy="566928"/>
          </a:xfrm>
          <a:prstGeom prst="rect">
            <a:avLst/>
          </a:prstGeom>
          <a:solidFill>
            <a:srgbClr val="14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03120" y="3840480"/>
            <a:ext cx="1691640" cy="566928"/>
          </a:xfrm>
          <a:prstGeom prst="rect">
            <a:avLst/>
          </a:prstGeom>
          <a:noFill/>
        </p:spPr>
        <p:txBody>
          <a:bodyPr wrap="square">
            <a:spAutoFit/>
          </a:bodyPr>
          <a:lstStyle/>
          <a:p>
            <a:pPr algn="ctr"/>
            <a:r>
              <a:rPr sz="1100" b="1" i="0">
                <a:solidFill>
                  <a:srgbClr val="10B981"/>
                </a:solidFill>
                <a:latin typeface="Calibri"/>
              </a:rPr>
              <a:t>Chọn tham số</a:t>
            </a:r>
          </a:p>
        </p:txBody>
      </p:sp>
      <p:sp>
        <p:nvSpPr>
          <p:cNvPr id="35" name="TextBox 34"/>
          <p:cNvSpPr txBox="1"/>
          <p:nvPr/>
        </p:nvSpPr>
        <p:spPr>
          <a:xfrm>
            <a:off x="3886200" y="3904487"/>
            <a:ext cx="320040" cy="502920"/>
          </a:xfrm>
          <a:prstGeom prst="rect">
            <a:avLst/>
          </a:prstGeom>
          <a:noFill/>
        </p:spPr>
        <p:txBody>
          <a:bodyPr wrap="square">
            <a:spAutoFit/>
          </a:bodyPr>
          <a:lstStyle/>
          <a:p>
            <a:pPr algn="ctr"/>
            <a:r>
              <a:rPr sz="1800" b="0" i="0">
                <a:solidFill>
                  <a:srgbClr val="94A3B8"/>
                </a:solidFill>
                <a:latin typeface="Calibri"/>
              </a:rPr>
              <a:t>→</a:t>
            </a:r>
          </a:p>
        </p:txBody>
      </p:sp>
      <p:sp>
        <p:nvSpPr>
          <p:cNvPr id="36" name="Rectangle 35"/>
          <p:cNvSpPr/>
          <p:nvPr/>
        </p:nvSpPr>
        <p:spPr>
          <a:xfrm>
            <a:off x="4206240" y="3840480"/>
            <a:ext cx="1691640" cy="566928"/>
          </a:xfrm>
          <a:prstGeom prst="rect">
            <a:avLst/>
          </a:prstGeom>
          <a:solidFill>
            <a:srgbClr val="14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06240" y="3840480"/>
            <a:ext cx="1691640" cy="566928"/>
          </a:xfrm>
          <a:prstGeom prst="rect">
            <a:avLst/>
          </a:prstGeom>
          <a:noFill/>
        </p:spPr>
        <p:txBody>
          <a:bodyPr wrap="square">
            <a:spAutoFit/>
          </a:bodyPr>
          <a:lstStyle/>
          <a:p>
            <a:pPr algn="ctr"/>
            <a:r>
              <a:rPr sz="1100" b="1" i="0">
                <a:solidFill>
                  <a:srgbClr val="60A5FA"/>
                </a:solidFill>
                <a:latin typeface="Calibri"/>
              </a:rPr>
              <a:t>Streamlit gửi YC</a:t>
            </a:r>
          </a:p>
        </p:txBody>
      </p:sp>
      <p:sp>
        <p:nvSpPr>
          <p:cNvPr id="38" name="TextBox 37"/>
          <p:cNvSpPr txBox="1"/>
          <p:nvPr/>
        </p:nvSpPr>
        <p:spPr>
          <a:xfrm>
            <a:off x="5989320" y="3904487"/>
            <a:ext cx="320040" cy="502920"/>
          </a:xfrm>
          <a:prstGeom prst="rect">
            <a:avLst/>
          </a:prstGeom>
          <a:noFill/>
        </p:spPr>
        <p:txBody>
          <a:bodyPr wrap="square">
            <a:spAutoFit/>
          </a:bodyPr>
          <a:lstStyle/>
          <a:p>
            <a:pPr algn="ctr"/>
            <a:r>
              <a:rPr sz="1800" b="0" i="0">
                <a:solidFill>
                  <a:srgbClr val="94A3B8"/>
                </a:solidFill>
                <a:latin typeface="Calibri"/>
              </a:rPr>
              <a:t>→</a:t>
            </a:r>
          </a:p>
        </p:txBody>
      </p:sp>
      <p:sp>
        <p:nvSpPr>
          <p:cNvPr id="39" name="Rectangle 38"/>
          <p:cNvSpPr/>
          <p:nvPr/>
        </p:nvSpPr>
        <p:spPr>
          <a:xfrm>
            <a:off x="6309360" y="3840480"/>
            <a:ext cx="1691640" cy="566928"/>
          </a:xfrm>
          <a:prstGeom prst="rect">
            <a:avLst/>
          </a:prstGeom>
          <a:solidFill>
            <a:srgbClr val="14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3840480"/>
            <a:ext cx="1691640" cy="566928"/>
          </a:xfrm>
          <a:prstGeom prst="rect">
            <a:avLst/>
          </a:prstGeom>
          <a:noFill/>
        </p:spPr>
        <p:txBody>
          <a:bodyPr wrap="square">
            <a:spAutoFit/>
          </a:bodyPr>
          <a:lstStyle/>
          <a:p>
            <a:pPr algn="ctr"/>
            <a:r>
              <a:rPr sz="1100" b="1" i="0">
                <a:solidFill>
                  <a:srgbClr val="F59E0B"/>
                </a:solidFill>
                <a:latin typeface="Calibri"/>
              </a:rPr>
              <a:t>SA Solver chạy
100K iterations</a:t>
            </a:r>
          </a:p>
        </p:txBody>
      </p:sp>
      <p:sp>
        <p:nvSpPr>
          <p:cNvPr id="41" name="TextBox 40"/>
          <p:cNvSpPr txBox="1"/>
          <p:nvPr/>
        </p:nvSpPr>
        <p:spPr>
          <a:xfrm>
            <a:off x="8092440" y="3904487"/>
            <a:ext cx="320040" cy="502920"/>
          </a:xfrm>
          <a:prstGeom prst="rect">
            <a:avLst/>
          </a:prstGeom>
          <a:noFill/>
        </p:spPr>
        <p:txBody>
          <a:bodyPr wrap="square">
            <a:spAutoFit/>
          </a:bodyPr>
          <a:lstStyle/>
          <a:p>
            <a:pPr algn="ctr"/>
            <a:r>
              <a:rPr sz="1800" b="0" i="0">
                <a:solidFill>
                  <a:srgbClr val="94A3B8"/>
                </a:solidFill>
                <a:latin typeface="Calibri"/>
              </a:rPr>
              <a:t>→</a:t>
            </a:r>
          </a:p>
        </p:txBody>
      </p:sp>
      <p:sp>
        <p:nvSpPr>
          <p:cNvPr id="42" name="Rectangle 41"/>
          <p:cNvSpPr/>
          <p:nvPr/>
        </p:nvSpPr>
        <p:spPr>
          <a:xfrm>
            <a:off x="8412480" y="3840480"/>
            <a:ext cx="1691640" cy="566928"/>
          </a:xfrm>
          <a:prstGeom prst="rect">
            <a:avLst/>
          </a:prstGeom>
          <a:solidFill>
            <a:srgbClr val="14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0" y="3840480"/>
            <a:ext cx="1691640" cy="566928"/>
          </a:xfrm>
          <a:prstGeom prst="rect">
            <a:avLst/>
          </a:prstGeom>
          <a:noFill/>
        </p:spPr>
        <p:txBody>
          <a:bodyPr wrap="square">
            <a:spAutoFit/>
          </a:bodyPr>
          <a:lstStyle/>
          <a:p>
            <a:pPr algn="ctr"/>
            <a:r>
              <a:rPr sz="1100" b="1" i="0">
                <a:solidFill>
                  <a:srgbClr val="10B981"/>
                </a:solidFill>
                <a:latin typeface="Calibri"/>
              </a:rPr>
              <a:t>Cập nhật bản đồ
+ Lịch trình CSV</a:t>
            </a:r>
          </a:p>
        </p:txBody>
      </p:sp>
      <p:sp>
        <p:nvSpPr>
          <p:cNvPr id="44" name="Rectangle 43"/>
          <p:cNvSpPr/>
          <p:nvPr/>
        </p:nvSpPr>
        <p:spPr>
          <a:xfrm>
            <a:off x="457200" y="4709160"/>
            <a:ext cx="5394960" cy="1920240"/>
          </a:xfrm>
          <a:prstGeom prst="rect">
            <a:avLst/>
          </a:prstGeom>
          <a:solidFill>
            <a:srgbClr val="0A101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773168"/>
            <a:ext cx="5212080" cy="320040"/>
          </a:xfrm>
          <a:prstGeom prst="rect">
            <a:avLst/>
          </a:prstGeom>
          <a:noFill/>
        </p:spPr>
        <p:txBody>
          <a:bodyPr wrap="square">
            <a:spAutoFit/>
          </a:bodyPr>
          <a:lstStyle/>
          <a:p>
            <a:pPr algn="l"/>
            <a:r>
              <a:rPr sz="1100" b="1" i="0">
                <a:solidFill>
                  <a:srgbClr val="60A5FA"/>
                </a:solidFill>
                <a:latin typeface="Calibri"/>
              </a:rPr>
              <a:t>📁  CẤU TRÚC SOURCE CODE</a:t>
            </a:r>
          </a:p>
        </p:txBody>
      </p:sp>
      <p:sp>
        <p:nvSpPr>
          <p:cNvPr id="46" name="TextBox 45"/>
          <p:cNvSpPr txBox="1"/>
          <p:nvPr/>
        </p:nvSpPr>
        <p:spPr>
          <a:xfrm>
            <a:off x="594360" y="5138928"/>
            <a:ext cx="1737360" cy="320040"/>
          </a:xfrm>
          <a:prstGeom prst="rect">
            <a:avLst/>
          </a:prstGeom>
          <a:noFill/>
        </p:spPr>
        <p:txBody>
          <a:bodyPr wrap="square">
            <a:spAutoFit/>
          </a:bodyPr>
          <a:lstStyle/>
          <a:p>
            <a:pPr algn="l"/>
            <a:r>
              <a:rPr sz="1100" b="1" i="0">
                <a:solidFill>
                  <a:srgbClr val="60A5FA"/>
                </a:solidFill>
                <a:latin typeface="Courier New"/>
              </a:rPr>
              <a:t>  sa_solver.py</a:t>
            </a:r>
          </a:p>
        </p:txBody>
      </p:sp>
      <p:sp>
        <p:nvSpPr>
          <p:cNvPr id="47" name="TextBox 46"/>
          <p:cNvSpPr txBox="1"/>
          <p:nvPr/>
        </p:nvSpPr>
        <p:spPr>
          <a:xfrm>
            <a:off x="2377440" y="5138928"/>
            <a:ext cx="3291840" cy="320040"/>
          </a:xfrm>
          <a:prstGeom prst="rect">
            <a:avLst/>
          </a:prstGeom>
          <a:noFill/>
        </p:spPr>
        <p:txBody>
          <a:bodyPr wrap="square">
            <a:spAutoFit/>
          </a:bodyPr>
          <a:lstStyle/>
          <a:p>
            <a:pPr algn="l"/>
            <a:r>
              <a:rPr sz="1100" b="0" i="0">
                <a:solidFill>
                  <a:srgbClr val="94A3B8"/>
                </a:solidFill>
                <a:latin typeface="Calibri"/>
              </a:rPr>
              <a:t>—  Thuật toán SA + Haversine distance</a:t>
            </a:r>
          </a:p>
        </p:txBody>
      </p:sp>
      <p:sp>
        <p:nvSpPr>
          <p:cNvPr id="48" name="TextBox 47"/>
          <p:cNvSpPr txBox="1"/>
          <p:nvPr/>
        </p:nvSpPr>
        <p:spPr>
          <a:xfrm>
            <a:off x="594360" y="5486400"/>
            <a:ext cx="1737360" cy="320040"/>
          </a:xfrm>
          <a:prstGeom prst="rect">
            <a:avLst/>
          </a:prstGeom>
          <a:noFill/>
        </p:spPr>
        <p:txBody>
          <a:bodyPr wrap="square">
            <a:spAutoFit/>
          </a:bodyPr>
          <a:lstStyle/>
          <a:p>
            <a:pPr algn="l"/>
            <a:r>
              <a:rPr sz="1100" b="1" i="0">
                <a:solidFill>
                  <a:srgbClr val="60A5FA"/>
                </a:solidFill>
                <a:latin typeface="Courier New"/>
              </a:rPr>
              <a:t>  main.py</a:t>
            </a:r>
          </a:p>
        </p:txBody>
      </p:sp>
      <p:sp>
        <p:nvSpPr>
          <p:cNvPr id="49" name="TextBox 48"/>
          <p:cNvSpPr txBox="1"/>
          <p:nvPr/>
        </p:nvSpPr>
        <p:spPr>
          <a:xfrm>
            <a:off x="2377440" y="5486400"/>
            <a:ext cx="3291840" cy="320040"/>
          </a:xfrm>
          <a:prstGeom prst="rect">
            <a:avLst/>
          </a:prstGeom>
          <a:noFill/>
        </p:spPr>
        <p:txBody>
          <a:bodyPr wrap="square">
            <a:spAutoFit/>
          </a:bodyPr>
          <a:lstStyle/>
          <a:p>
            <a:pPr algn="l"/>
            <a:r>
              <a:rPr sz="1100" b="0" i="0">
                <a:solidFill>
                  <a:srgbClr val="94A3B8"/>
                </a:solidFill>
                <a:latin typeface="Calibri"/>
              </a:rPr>
              <a:t>—  FastAPI server, định nghĩa data model</a:t>
            </a:r>
          </a:p>
        </p:txBody>
      </p:sp>
      <p:sp>
        <p:nvSpPr>
          <p:cNvPr id="50" name="TextBox 49"/>
          <p:cNvSpPr txBox="1"/>
          <p:nvPr/>
        </p:nvSpPr>
        <p:spPr>
          <a:xfrm>
            <a:off x="594360" y="5833872"/>
            <a:ext cx="1737360" cy="320040"/>
          </a:xfrm>
          <a:prstGeom prst="rect">
            <a:avLst/>
          </a:prstGeom>
          <a:noFill/>
        </p:spPr>
        <p:txBody>
          <a:bodyPr wrap="square">
            <a:spAutoFit/>
          </a:bodyPr>
          <a:lstStyle/>
          <a:p>
            <a:pPr algn="l"/>
            <a:r>
              <a:rPr sz="1100" b="1" i="0">
                <a:solidFill>
                  <a:srgbClr val="60A5FA"/>
                </a:solidFill>
                <a:latin typeface="Courier New"/>
              </a:rPr>
              <a:t>  ui.py</a:t>
            </a:r>
          </a:p>
        </p:txBody>
      </p:sp>
      <p:sp>
        <p:nvSpPr>
          <p:cNvPr id="51" name="TextBox 50"/>
          <p:cNvSpPr txBox="1"/>
          <p:nvPr/>
        </p:nvSpPr>
        <p:spPr>
          <a:xfrm>
            <a:off x="2377440" y="5833872"/>
            <a:ext cx="3291840" cy="320040"/>
          </a:xfrm>
          <a:prstGeom prst="rect">
            <a:avLst/>
          </a:prstGeom>
          <a:noFill/>
        </p:spPr>
        <p:txBody>
          <a:bodyPr wrap="square">
            <a:spAutoFit/>
          </a:bodyPr>
          <a:lstStyle/>
          <a:p>
            <a:pPr algn="l"/>
            <a:r>
              <a:rPr sz="1100" b="0" i="0">
                <a:solidFill>
                  <a:srgbClr val="94A3B8"/>
                </a:solidFill>
                <a:latin typeface="Calibri"/>
              </a:rPr>
              <a:t>—  Streamlit UI, bản đồ Folium, export CSV</a:t>
            </a:r>
          </a:p>
        </p:txBody>
      </p:sp>
      <p:sp>
        <p:nvSpPr>
          <p:cNvPr id="52" name="TextBox 51"/>
          <p:cNvSpPr txBox="1"/>
          <p:nvPr/>
        </p:nvSpPr>
        <p:spPr>
          <a:xfrm>
            <a:off x="594360" y="6181344"/>
            <a:ext cx="1737360" cy="320040"/>
          </a:xfrm>
          <a:prstGeom prst="rect">
            <a:avLst/>
          </a:prstGeom>
          <a:noFill/>
        </p:spPr>
        <p:txBody>
          <a:bodyPr wrap="square">
            <a:spAutoFit/>
          </a:bodyPr>
          <a:lstStyle/>
          <a:p>
            <a:pPr algn="l"/>
            <a:r>
              <a:rPr sz="1100" b="1" i="0">
                <a:solidFill>
                  <a:srgbClr val="60A5FA"/>
                </a:solidFill>
                <a:latin typeface="Courier New"/>
              </a:rPr>
              <a:t>  requirements.txt</a:t>
            </a:r>
          </a:p>
        </p:txBody>
      </p:sp>
      <p:sp>
        <p:nvSpPr>
          <p:cNvPr id="53" name="TextBox 52"/>
          <p:cNvSpPr txBox="1"/>
          <p:nvPr/>
        </p:nvSpPr>
        <p:spPr>
          <a:xfrm>
            <a:off x="2377440" y="6181344"/>
            <a:ext cx="3291840" cy="320040"/>
          </a:xfrm>
          <a:prstGeom prst="rect">
            <a:avLst/>
          </a:prstGeom>
          <a:noFill/>
        </p:spPr>
        <p:txBody>
          <a:bodyPr wrap="square">
            <a:spAutoFit/>
          </a:bodyPr>
          <a:lstStyle/>
          <a:p>
            <a:pPr algn="l"/>
            <a:r>
              <a:rPr sz="1100" b="0" i="0">
                <a:solidFill>
                  <a:srgbClr val="94A3B8"/>
                </a:solidFill>
                <a:latin typeface="Calibri"/>
              </a:rPr>
              <a:t>—  Quản lý thư viện và phiên bản</a:t>
            </a:r>
          </a:p>
        </p:txBody>
      </p:sp>
      <p:sp>
        <p:nvSpPr>
          <p:cNvPr id="54" name="Rectangle 53"/>
          <p:cNvSpPr/>
          <p:nvPr/>
        </p:nvSpPr>
        <p:spPr>
          <a:xfrm>
            <a:off x="6035040" y="4709160"/>
            <a:ext cx="5696712" cy="192024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72200" y="4773168"/>
            <a:ext cx="5394960" cy="320040"/>
          </a:xfrm>
          <a:prstGeom prst="rect">
            <a:avLst/>
          </a:prstGeom>
          <a:noFill/>
        </p:spPr>
        <p:txBody>
          <a:bodyPr wrap="square">
            <a:spAutoFit/>
          </a:bodyPr>
          <a:lstStyle/>
          <a:p>
            <a:pPr algn="l"/>
            <a:r>
              <a:rPr sz="1100" b="1" i="0">
                <a:solidFill>
                  <a:srgbClr val="10B981"/>
                </a:solidFill>
                <a:latin typeface="Calibri"/>
              </a:rPr>
              <a:t>🔧  THƯ VIỆN CHÍNH</a:t>
            </a:r>
          </a:p>
        </p:txBody>
      </p:sp>
      <p:sp>
        <p:nvSpPr>
          <p:cNvPr id="56" name="TextBox 55"/>
          <p:cNvSpPr txBox="1"/>
          <p:nvPr/>
        </p:nvSpPr>
        <p:spPr>
          <a:xfrm>
            <a:off x="6172200" y="5138928"/>
            <a:ext cx="1645920" cy="256032"/>
          </a:xfrm>
          <a:prstGeom prst="rect">
            <a:avLst/>
          </a:prstGeom>
          <a:noFill/>
        </p:spPr>
        <p:txBody>
          <a:bodyPr wrap="square">
            <a:spAutoFit/>
          </a:bodyPr>
          <a:lstStyle/>
          <a:p>
            <a:pPr algn="l"/>
            <a:r>
              <a:rPr sz="1100" b="1" i="0">
                <a:solidFill>
                  <a:srgbClr val="60A5FA"/>
                </a:solidFill>
                <a:latin typeface="Courier New"/>
              </a:rPr>
              <a:t>fastapi / uvicorn</a:t>
            </a:r>
          </a:p>
        </p:txBody>
      </p:sp>
      <p:sp>
        <p:nvSpPr>
          <p:cNvPr id="57" name="TextBox 56"/>
          <p:cNvSpPr txBox="1"/>
          <p:nvPr/>
        </p:nvSpPr>
        <p:spPr>
          <a:xfrm>
            <a:off x="7909560" y="5138928"/>
            <a:ext cx="3474720" cy="256032"/>
          </a:xfrm>
          <a:prstGeom prst="rect">
            <a:avLst/>
          </a:prstGeom>
          <a:noFill/>
        </p:spPr>
        <p:txBody>
          <a:bodyPr wrap="square">
            <a:spAutoFit/>
          </a:bodyPr>
          <a:lstStyle/>
          <a:p>
            <a:pPr algn="l"/>
            <a:r>
              <a:rPr sz="1100" b="0" i="0">
                <a:solidFill>
                  <a:srgbClr val="94A3B8"/>
                </a:solidFill>
                <a:latin typeface="Calibri"/>
              </a:rPr>
              <a:t>—  REST API server framework</a:t>
            </a:r>
          </a:p>
        </p:txBody>
      </p:sp>
      <p:sp>
        <p:nvSpPr>
          <p:cNvPr id="58" name="TextBox 57"/>
          <p:cNvSpPr txBox="1"/>
          <p:nvPr/>
        </p:nvSpPr>
        <p:spPr>
          <a:xfrm>
            <a:off x="6172200" y="5422392"/>
            <a:ext cx="1645920" cy="256032"/>
          </a:xfrm>
          <a:prstGeom prst="rect">
            <a:avLst/>
          </a:prstGeom>
          <a:noFill/>
        </p:spPr>
        <p:txBody>
          <a:bodyPr wrap="square">
            <a:spAutoFit/>
          </a:bodyPr>
          <a:lstStyle/>
          <a:p>
            <a:pPr algn="l"/>
            <a:r>
              <a:rPr sz="1100" b="1" i="0">
                <a:solidFill>
                  <a:srgbClr val="8B5CF6"/>
                </a:solidFill>
                <a:latin typeface="Courier New"/>
              </a:rPr>
              <a:t>streamlit</a:t>
            </a:r>
          </a:p>
        </p:txBody>
      </p:sp>
      <p:sp>
        <p:nvSpPr>
          <p:cNvPr id="59" name="TextBox 58"/>
          <p:cNvSpPr txBox="1"/>
          <p:nvPr/>
        </p:nvSpPr>
        <p:spPr>
          <a:xfrm>
            <a:off x="7909560" y="5422392"/>
            <a:ext cx="3474720" cy="256032"/>
          </a:xfrm>
          <a:prstGeom prst="rect">
            <a:avLst/>
          </a:prstGeom>
          <a:noFill/>
        </p:spPr>
        <p:txBody>
          <a:bodyPr wrap="square">
            <a:spAutoFit/>
          </a:bodyPr>
          <a:lstStyle/>
          <a:p>
            <a:pPr algn="l"/>
            <a:r>
              <a:rPr sz="1100" b="0" i="0">
                <a:solidFill>
                  <a:srgbClr val="94A3B8"/>
                </a:solidFill>
                <a:latin typeface="Calibri"/>
              </a:rPr>
              <a:t>—  Web UI reactive framework</a:t>
            </a:r>
          </a:p>
        </p:txBody>
      </p:sp>
      <p:sp>
        <p:nvSpPr>
          <p:cNvPr id="60" name="TextBox 59"/>
          <p:cNvSpPr txBox="1"/>
          <p:nvPr/>
        </p:nvSpPr>
        <p:spPr>
          <a:xfrm>
            <a:off x="6172200" y="5705856"/>
            <a:ext cx="1645920" cy="256032"/>
          </a:xfrm>
          <a:prstGeom prst="rect">
            <a:avLst/>
          </a:prstGeom>
          <a:noFill/>
        </p:spPr>
        <p:txBody>
          <a:bodyPr wrap="square">
            <a:spAutoFit/>
          </a:bodyPr>
          <a:lstStyle/>
          <a:p>
            <a:pPr algn="l"/>
            <a:r>
              <a:rPr sz="1100" b="1" i="0">
                <a:solidFill>
                  <a:srgbClr val="10B981"/>
                </a:solidFill>
                <a:latin typeface="Courier New"/>
              </a:rPr>
              <a:t>folium + leaflet</a:t>
            </a:r>
          </a:p>
        </p:txBody>
      </p:sp>
      <p:sp>
        <p:nvSpPr>
          <p:cNvPr id="61" name="TextBox 60"/>
          <p:cNvSpPr txBox="1"/>
          <p:nvPr/>
        </p:nvSpPr>
        <p:spPr>
          <a:xfrm>
            <a:off x="7909560" y="5705856"/>
            <a:ext cx="3474720" cy="256032"/>
          </a:xfrm>
          <a:prstGeom prst="rect">
            <a:avLst/>
          </a:prstGeom>
          <a:noFill/>
        </p:spPr>
        <p:txBody>
          <a:bodyPr wrap="square">
            <a:spAutoFit/>
          </a:bodyPr>
          <a:lstStyle/>
          <a:p>
            <a:pPr algn="l"/>
            <a:r>
              <a:rPr sz="1100" b="0" i="0">
                <a:solidFill>
                  <a:srgbClr val="94A3B8"/>
                </a:solidFill>
                <a:latin typeface="Calibri"/>
              </a:rPr>
              <a:t>—  Bản đồ tương tác</a:t>
            </a:r>
          </a:p>
        </p:txBody>
      </p:sp>
      <p:sp>
        <p:nvSpPr>
          <p:cNvPr id="62" name="TextBox 61"/>
          <p:cNvSpPr txBox="1"/>
          <p:nvPr/>
        </p:nvSpPr>
        <p:spPr>
          <a:xfrm>
            <a:off x="6172200" y="5989320"/>
            <a:ext cx="1645920" cy="256032"/>
          </a:xfrm>
          <a:prstGeom prst="rect">
            <a:avLst/>
          </a:prstGeom>
          <a:noFill/>
        </p:spPr>
        <p:txBody>
          <a:bodyPr wrap="square">
            <a:spAutoFit/>
          </a:bodyPr>
          <a:lstStyle/>
          <a:p>
            <a:pPr algn="l"/>
            <a:r>
              <a:rPr sz="1100" b="1" i="0">
                <a:solidFill>
                  <a:srgbClr val="F59E0B"/>
                </a:solidFill>
                <a:latin typeface="Courier New"/>
              </a:rPr>
              <a:t>pandas / plotly</a:t>
            </a:r>
          </a:p>
        </p:txBody>
      </p:sp>
      <p:sp>
        <p:nvSpPr>
          <p:cNvPr id="63" name="TextBox 62"/>
          <p:cNvSpPr txBox="1"/>
          <p:nvPr/>
        </p:nvSpPr>
        <p:spPr>
          <a:xfrm>
            <a:off x="7909560" y="5989320"/>
            <a:ext cx="3474720" cy="256032"/>
          </a:xfrm>
          <a:prstGeom prst="rect">
            <a:avLst/>
          </a:prstGeom>
          <a:noFill/>
        </p:spPr>
        <p:txBody>
          <a:bodyPr wrap="square">
            <a:spAutoFit/>
          </a:bodyPr>
          <a:lstStyle/>
          <a:p>
            <a:pPr algn="l"/>
            <a:r>
              <a:rPr sz="1100" b="0" i="0">
                <a:solidFill>
                  <a:srgbClr val="94A3B8"/>
                </a:solidFill>
                <a:latin typeface="Calibri"/>
              </a:rPr>
              <a:t>—  Xử lý dữ liệu &amp; vẽ đồ thị</a:t>
            </a:r>
          </a:p>
        </p:txBody>
      </p:sp>
      <p:sp>
        <p:nvSpPr>
          <p:cNvPr id="64" name="TextBox 63"/>
          <p:cNvSpPr txBox="1"/>
          <p:nvPr/>
        </p:nvSpPr>
        <p:spPr>
          <a:xfrm>
            <a:off x="6172200" y="6272784"/>
            <a:ext cx="1645920" cy="256032"/>
          </a:xfrm>
          <a:prstGeom prst="rect">
            <a:avLst/>
          </a:prstGeom>
          <a:noFill/>
        </p:spPr>
        <p:txBody>
          <a:bodyPr wrap="square">
            <a:spAutoFit/>
          </a:bodyPr>
          <a:lstStyle/>
          <a:p>
            <a:pPr algn="l"/>
            <a:r>
              <a:rPr sz="1100" b="1" i="0">
                <a:solidFill>
                  <a:srgbClr val="94A3B8"/>
                </a:solidFill>
                <a:latin typeface="Courier New"/>
              </a:rPr>
              <a:t>math / random</a:t>
            </a:r>
          </a:p>
        </p:txBody>
      </p:sp>
      <p:sp>
        <p:nvSpPr>
          <p:cNvPr id="65" name="TextBox 64"/>
          <p:cNvSpPr txBox="1"/>
          <p:nvPr/>
        </p:nvSpPr>
        <p:spPr>
          <a:xfrm>
            <a:off x="7909560" y="6272784"/>
            <a:ext cx="3474720" cy="256032"/>
          </a:xfrm>
          <a:prstGeom prst="rect">
            <a:avLst/>
          </a:prstGeom>
          <a:noFill/>
        </p:spPr>
        <p:txBody>
          <a:bodyPr wrap="square">
            <a:spAutoFit/>
          </a:bodyPr>
          <a:lstStyle/>
          <a:p>
            <a:pPr algn="l"/>
            <a:r>
              <a:rPr sz="1100" b="0" i="0">
                <a:solidFill>
                  <a:srgbClr val="94A3B8"/>
                </a:solidFill>
                <a:latin typeface="Calibri"/>
              </a:rPr>
              <a:t>—  Tính toán Haversine &amp; SA (stdlib Python)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457200" y="1143000"/>
            <a:ext cx="11274552" cy="127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0292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502920" cy="502920"/>
          </a:xfrm>
          <a:prstGeom prst="rect">
            <a:avLst/>
          </a:prstGeom>
          <a:noFill/>
        </p:spPr>
        <p:txBody>
          <a:bodyPr wrap="square">
            <a:spAutoFit/>
          </a:bodyPr>
          <a:lstStyle/>
          <a:p>
            <a:pPr algn="ctr"/>
            <a:r>
              <a:rPr sz="1600" b="0" i="0">
                <a:solidFill>
                  <a:srgbClr val="FFFFFF"/>
                </a:solidFill>
                <a:latin typeface="Calibri"/>
              </a:rPr>
              <a:t>📊</a:t>
            </a:r>
          </a:p>
        </p:txBody>
      </p:sp>
      <p:sp>
        <p:nvSpPr>
          <p:cNvPr id="5" name="TextBox 4"/>
          <p:cNvSpPr txBox="1"/>
          <p:nvPr/>
        </p:nvSpPr>
        <p:spPr>
          <a:xfrm>
            <a:off x="1051560" y="365760"/>
            <a:ext cx="9601200" cy="548640"/>
          </a:xfrm>
          <a:prstGeom prst="rect">
            <a:avLst/>
          </a:prstGeom>
          <a:noFill/>
        </p:spPr>
        <p:txBody>
          <a:bodyPr wrap="square">
            <a:spAutoFit/>
          </a:bodyPr>
          <a:lstStyle/>
          <a:p>
            <a:pPr algn="l"/>
            <a:r>
              <a:rPr sz="2400" b="1" i="0">
                <a:solidFill>
                  <a:srgbClr val="FFFFFF"/>
                </a:solidFill>
                <a:latin typeface="Calibri"/>
              </a:rPr>
              <a:t>Đánh giá Kết quả &amp; Thực nghiệm</a:t>
            </a:r>
          </a:p>
        </p:txBody>
      </p:sp>
      <p:sp>
        <p:nvSpPr>
          <p:cNvPr id="6" name="TextBox 5"/>
          <p:cNvSpPr txBox="1"/>
          <p:nvPr/>
        </p:nvSpPr>
        <p:spPr>
          <a:xfrm>
            <a:off x="10789920" y="402336"/>
            <a:ext cx="1371600" cy="457200"/>
          </a:xfrm>
          <a:prstGeom prst="rect">
            <a:avLst/>
          </a:prstGeom>
          <a:noFill/>
        </p:spPr>
        <p:txBody>
          <a:bodyPr wrap="square">
            <a:spAutoFit/>
          </a:bodyPr>
          <a:lstStyle/>
          <a:p>
            <a:pPr algn="r"/>
            <a:r>
              <a:rPr sz="1100" b="0" i="0">
                <a:solidFill>
                  <a:srgbClr val="94A3B8"/>
                </a:solidFill>
                <a:latin typeface="Calibri"/>
              </a:rPr>
              <a:t>06 / 07</a:t>
            </a:r>
          </a:p>
        </p:txBody>
      </p:sp>
      <p:sp>
        <p:nvSpPr>
          <p:cNvPr id="7" name="Rectangle 6"/>
          <p:cNvSpPr/>
          <p:nvPr/>
        </p:nvSpPr>
        <p:spPr>
          <a:xfrm>
            <a:off x="457200" y="1325880"/>
            <a:ext cx="5577840" cy="29260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89888"/>
            <a:ext cx="5303520" cy="320040"/>
          </a:xfrm>
          <a:prstGeom prst="rect">
            <a:avLst/>
          </a:prstGeom>
          <a:noFill/>
        </p:spPr>
        <p:txBody>
          <a:bodyPr wrap="square">
            <a:spAutoFit/>
          </a:bodyPr>
          <a:lstStyle/>
          <a:p>
            <a:pPr algn="l"/>
            <a:r>
              <a:rPr sz="1100" b="1" i="0">
                <a:solidFill>
                  <a:srgbClr val="F59E0B"/>
                </a:solidFill>
                <a:latin typeface="Calibri"/>
              </a:rPr>
              <a:t>⚡  HIỆU NĂNG THUẬT TOÁN</a:t>
            </a:r>
          </a:p>
        </p:txBody>
      </p:sp>
      <p:sp>
        <p:nvSpPr>
          <p:cNvPr id="9" name="TextBox 8"/>
          <p:cNvSpPr txBox="1"/>
          <p:nvPr/>
        </p:nvSpPr>
        <p:spPr>
          <a:xfrm>
            <a:off x="594360" y="1801368"/>
            <a:ext cx="3291840" cy="256032"/>
          </a:xfrm>
          <a:prstGeom prst="rect">
            <a:avLst/>
          </a:prstGeom>
          <a:noFill/>
        </p:spPr>
        <p:txBody>
          <a:bodyPr wrap="square">
            <a:spAutoFit/>
          </a:bodyPr>
          <a:lstStyle/>
          <a:p>
            <a:pPr algn="l"/>
            <a:r>
              <a:rPr sz="1100" b="0" i="0">
                <a:solidFill>
                  <a:srgbClr val="94A3B8"/>
                </a:solidFill>
                <a:latin typeface="Calibri"/>
              </a:rPr>
              <a:t>Chất lượng lời giải (so với cận dưới):</a:t>
            </a:r>
          </a:p>
        </p:txBody>
      </p:sp>
      <p:sp>
        <p:nvSpPr>
          <p:cNvPr id="10" name="TextBox 9"/>
          <p:cNvSpPr txBox="1"/>
          <p:nvPr/>
        </p:nvSpPr>
        <p:spPr>
          <a:xfrm>
            <a:off x="4114800" y="1801368"/>
            <a:ext cx="1371600" cy="256032"/>
          </a:xfrm>
          <a:prstGeom prst="rect">
            <a:avLst/>
          </a:prstGeom>
          <a:noFill/>
        </p:spPr>
        <p:txBody>
          <a:bodyPr wrap="square">
            <a:spAutoFit/>
          </a:bodyPr>
          <a:lstStyle/>
          <a:p>
            <a:pPr algn="r"/>
            <a:r>
              <a:rPr sz="1100" b="1" i="0">
                <a:solidFill>
                  <a:srgbClr val="10B981"/>
                </a:solidFill>
                <a:latin typeface="Calibri"/>
              </a:rPr>
              <a:t>~85–90%</a:t>
            </a:r>
          </a:p>
        </p:txBody>
      </p:sp>
      <p:sp>
        <p:nvSpPr>
          <p:cNvPr id="11" name="Rectangle 10"/>
          <p:cNvSpPr/>
          <p:nvPr/>
        </p:nvSpPr>
        <p:spPr>
          <a:xfrm>
            <a:off x="594360" y="2075688"/>
            <a:ext cx="4846320" cy="1016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075688"/>
            <a:ext cx="4264761" cy="10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14016"/>
            <a:ext cx="3291840" cy="256032"/>
          </a:xfrm>
          <a:prstGeom prst="rect">
            <a:avLst/>
          </a:prstGeom>
          <a:noFill/>
        </p:spPr>
        <p:txBody>
          <a:bodyPr wrap="square">
            <a:spAutoFit/>
          </a:bodyPr>
          <a:lstStyle/>
          <a:p>
            <a:pPr algn="l"/>
            <a:r>
              <a:rPr sz="1100" b="0" i="0">
                <a:solidFill>
                  <a:srgbClr val="94A3B8"/>
                </a:solidFill>
                <a:latin typeface="Calibri"/>
              </a:rPr>
              <a:t>Tốc độ chạy (50K vòng lặp / 14 điểm):</a:t>
            </a:r>
          </a:p>
        </p:txBody>
      </p:sp>
      <p:sp>
        <p:nvSpPr>
          <p:cNvPr id="14" name="TextBox 13"/>
          <p:cNvSpPr txBox="1"/>
          <p:nvPr/>
        </p:nvSpPr>
        <p:spPr>
          <a:xfrm>
            <a:off x="4114800" y="2414016"/>
            <a:ext cx="1371600" cy="256032"/>
          </a:xfrm>
          <a:prstGeom prst="rect">
            <a:avLst/>
          </a:prstGeom>
          <a:noFill/>
        </p:spPr>
        <p:txBody>
          <a:bodyPr wrap="square">
            <a:spAutoFit/>
          </a:bodyPr>
          <a:lstStyle/>
          <a:p>
            <a:pPr algn="r"/>
            <a:r>
              <a:rPr sz="1100" b="1" i="0">
                <a:solidFill>
                  <a:srgbClr val="60A5FA"/>
                </a:solidFill>
                <a:latin typeface="Calibri"/>
              </a:rPr>
              <a:t>~2–3 giây</a:t>
            </a:r>
          </a:p>
        </p:txBody>
      </p:sp>
      <p:sp>
        <p:nvSpPr>
          <p:cNvPr id="15" name="Rectangle 14"/>
          <p:cNvSpPr/>
          <p:nvPr/>
        </p:nvSpPr>
        <p:spPr>
          <a:xfrm>
            <a:off x="594360" y="2688336"/>
            <a:ext cx="4846320" cy="1016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2688336"/>
            <a:ext cx="3634739" cy="1016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026664"/>
            <a:ext cx="3291840" cy="256032"/>
          </a:xfrm>
          <a:prstGeom prst="rect">
            <a:avLst/>
          </a:prstGeom>
          <a:noFill/>
        </p:spPr>
        <p:txBody>
          <a:bodyPr wrap="square">
            <a:spAutoFit/>
          </a:bodyPr>
          <a:lstStyle/>
          <a:p>
            <a:pPr algn="l"/>
            <a:r>
              <a:rPr sz="1100" b="0" i="0">
                <a:solidFill>
                  <a:srgbClr val="94A3B8"/>
                </a:solidFill>
                <a:latin typeface="Calibri"/>
              </a:rPr>
              <a:t>Độ ổn định (chạy nhiều lần):</a:t>
            </a:r>
          </a:p>
        </p:txBody>
      </p:sp>
      <p:sp>
        <p:nvSpPr>
          <p:cNvPr id="18" name="TextBox 17"/>
          <p:cNvSpPr txBox="1"/>
          <p:nvPr/>
        </p:nvSpPr>
        <p:spPr>
          <a:xfrm>
            <a:off x="4114800" y="3026664"/>
            <a:ext cx="1371600" cy="256032"/>
          </a:xfrm>
          <a:prstGeom prst="rect">
            <a:avLst/>
          </a:prstGeom>
          <a:noFill/>
        </p:spPr>
        <p:txBody>
          <a:bodyPr wrap="square">
            <a:spAutoFit/>
          </a:bodyPr>
          <a:lstStyle/>
          <a:p>
            <a:pPr algn="r"/>
            <a:r>
              <a:rPr sz="1100" b="1" i="0">
                <a:solidFill>
                  <a:srgbClr val="F59E0B"/>
                </a:solidFill>
                <a:latin typeface="Calibri"/>
              </a:rPr>
              <a:t>~80%</a:t>
            </a:r>
          </a:p>
        </p:txBody>
      </p:sp>
      <p:sp>
        <p:nvSpPr>
          <p:cNvPr id="19" name="Rectangle 18"/>
          <p:cNvSpPr/>
          <p:nvPr/>
        </p:nvSpPr>
        <p:spPr>
          <a:xfrm>
            <a:off x="594360" y="3300984"/>
            <a:ext cx="4846320" cy="1016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 y="3300984"/>
            <a:ext cx="3877056" cy="10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639312"/>
            <a:ext cx="3291840" cy="256032"/>
          </a:xfrm>
          <a:prstGeom prst="rect">
            <a:avLst/>
          </a:prstGeom>
          <a:noFill/>
        </p:spPr>
        <p:txBody>
          <a:bodyPr wrap="square">
            <a:spAutoFit/>
          </a:bodyPr>
          <a:lstStyle/>
          <a:p>
            <a:pPr algn="l"/>
            <a:r>
              <a:rPr sz="1100" b="0" i="0">
                <a:solidFill>
                  <a:srgbClr val="94A3B8"/>
                </a:solidFill>
                <a:latin typeface="Calibri"/>
              </a:rPr>
              <a:t>Khả năng thoát cực tiểu địa phương:</a:t>
            </a:r>
          </a:p>
        </p:txBody>
      </p:sp>
      <p:sp>
        <p:nvSpPr>
          <p:cNvPr id="22" name="TextBox 21"/>
          <p:cNvSpPr txBox="1"/>
          <p:nvPr/>
        </p:nvSpPr>
        <p:spPr>
          <a:xfrm>
            <a:off x="4114800" y="3639312"/>
            <a:ext cx="1371600" cy="256032"/>
          </a:xfrm>
          <a:prstGeom prst="rect">
            <a:avLst/>
          </a:prstGeom>
          <a:noFill/>
        </p:spPr>
        <p:txBody>
          <a:bodyPr wrap="square">
            <a:spAutoFit/>
          </a:bodyPr>
          <a:lstStyle/>
          <a:p>
            <a:pPr algn="r"/>
            <a:r>
              <a:rPr sz="1100" b="1" i="0">
                <a:solidFill>
                  <a:srgbClr val="10B981"/>
                </a:solidFill>
                <a:latin typeface="Calibri"/>
              </a:rPr>
              <a:t>Cao</a:t>
            </a:r>
          </a:p>
        </p:txBody>
      </p:sp>
      <p:sp>
        <p:nvSpPr>
          <p:cNvPr id="23" name="Rectangle 22"/>
          <p:cNvSpPr/>
          <p:nvPr/>
        </p:nvSpPr>
        <p:spPr>
          <a:xfrm>
            <a:off x="594360" y="3913632"/>
            <a:ext cx="4846320" cy="1016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3913632"/>
            <a:ext cx="4119372" cy="10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297680"/>
            <a:ext cx="5303520" cy="274320"/>
          </a:xfrm>
          <a:prstGeom prst="rect">
            <a:avLst/>
          </a:prstGeom>
          <a:noFill/>
        </p:spPr>
        <p:txBody>
          <a:bodyPr wrap="square">
            <a:spAutoFit/>
          </a:bodyPr>
          <a:lstStyle/>
          <a:p>
            <a:pPr algn="l"/>
            <a:r>
              <a:rPr sz="900" b="0" i="1">
                <a:solidFill>
                  <a:srgbClr val="94A3B8"/>
                </a:solidFill>
                <a:latin typeface="Calibri"/>
              </a:rPr>
              <a:t>* So sánh với lộ trình ngẫu nhiên trên 14 điểm</a:t>
            </a:r>
          </a:p>
        </p:txBody>
      </p:sp>
      <p:sp>
        <p:nvSpPr>
          <p:cNvPr id="26" name="Rectangle 25"/>
          <p:cNvSpPr/>
          <p:nvPr/>
        </p:nvSpPr>
        <p:spPr>
          <a:xfrm>
            <a:off x="457200" y="4343400"/>
            <a:ext cx="265176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343400"/>
            <a:ext cx="265176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407408"/>
            <a:ext cx="2468880" cy="320040"/>
          </a:xfrm>
          <a:prstGeom prst="rect">
            <a:avLst/>
          </a:prstGeom>
          <a:noFill/>
        </p:spPr>
        <p:txBody>
          <a:bodyPr wrap="square">
            <a:spAutoFit/>
          </a:bodyPr>
          <a:lstStyle/>
          <a:p>
            <a:pPr algn="l"/>
            <a:r>
              <a:rPr sz="1100" b="1" i="0">
                <a:solidFill>
                  <a:srgbClr val="10B981"/>
                </a:solidFill>
                <a:latin typeface="Calibri"/>
              </a:rPr>
              <a:t>✅  ƯU ĐIỂM</a:t>
            </a:r>
          </a:p>
        </p:txBody>
      </p:sp>
      <p:sp>
        <p:nvSpPr>
          <p:cNvPr id="29" name="TextBox 28"/>
          <p:cNvSpPr txBox="1"/>
          <p:nvPr/>
        </p:nvSpPr>
        <p:spPr>
          <a:xfrm>
            <a:off x="594360" y="4773168"/>
            <a:ext cx="2468880" cy="1737360"/>
          </a:xfrm>
          <a:prstGeom prst="rect">
            <a:avLst/>
          </a:prstGeom>
          <a:noFill/>
        </p:spPr>
        <p:txBody>
          <a:bodyPr wrap="square">
            <a:spAutoFit/>
          </a:bodyPr>
          <a:lstStyle/>
          <a:p>
            <a:pPr>
              <a:spcBef>
                <a:spcPts val="300"/>
              </a:spcBef>
            </a:pPr>
            <a:r>
              <a:rPr sz="1100" b="0">
                <a:solidFill>
                  <a:srgbClr val="FFFFFF"/>
                </a:solidFill>
                <a:latin typeface="Calibri"/>
              </a:rPr>
              <a:t>• Không cần gradient</a:t>
            </a:r>
          </a:p>
          <a:p>
            <a:pPr>
              <a:spcBef>
                <a:spcPts val="300"/>
              </a:spcBef>
            </a:pPr>
            <a:r>
              <a:rPr sz="1100" b="0">
                <a:solidFill>
                  <a:srgbClr val="FFFFFF"/>
                </a:solidFill>
                <a:latin typeface="Calibri"/>
              </a:rPr>
              <a:t>• Tránh cực tiểu địa phương</a:t>
            </a:r>
          </a:p>
          <a:p>
            <a:pPr>
              <a:spcBef>
                <a:spcPts val="300"/>
              </a:spcBef>
            </a:pPr>
            <a:r>
              <a:rPr sz="1100" b="0">
                <a:solidFill>
                  <a:srgbClr val="FFFFFF"/>
                </a:solidFill>
                <a:latin typeface="Calibri"/>
              </a:rPr>
              <a:t>• Tham số linh hoạt</a:t>
            </a:r>
          </a:p>
          <a:p>
            <a:pPr>
              <a:spcBef>
                <a:spcPts val="300"/>
              </a:spcBef>
            </a:pPr>
            <a:r>
              <a:rPr sz="1100" b="0">
                <a:solidFill>
                  <a:srgbClr val="FFFFFF"/>
                </a:solidFill>
                <a:latin typeface="Calibri"/>
              </a:rPr>
              <a:t>• Giao diện trực quan</a:t>
            </a:r>
          </a:p>
          <a:p>
            <a:pPr>
              <a:spcBef>
                <a:spcPts val="300"/>
              </a:spcBef>
            </a:pPr>
            <a:r>
              <a:rPr sz="1100" b="0">
                <a:solidFill>
                  <a:srgbClr val="FFFFFF"/>
                </a:solidFill>
                <a:latin typeface="Calibri"/>
              </a:rPr>
              <a:t>• Xuất CSV tiện lợi</a:t>
            </a:r>
          </a:p>
        </p:txBody>
      </p:sp>
      <p:sp>
        <p:nvSpPr>
          <p:cNvPr id="30" name="Rectangle 29"/>
          <p:cNvSpPr/>
          <p:nvPr/>
        </p:nvSpPr>
        <p:spPr>
          <a:xfrm>
            <a:off x="3246120" y="4343400"/>
            <a:ext cx="2743200" cy="228600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6120" y="4343400"/>
            <a:ext cx="2743200" cy="640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4407408"/>
            <a:ext cx="2560320" cy="320040"/>
          </a:xfrm>
          <a:prstGeom prst="rect">
            <a:avLst/>
          </a:prstGeom>
          <a:noFill/>
        </p:spPr>
        <p:txBody>
          <a:bodyPr wrap="square">
            <a:spAutoFit/>
          </a:bodyPr>
          <a:lstStyle/>
          <a:p>
            <a:pPr algn="l"/>
            <a:r>
              <a:rPr sz="1100" b="1" i="0">
                <a:solidFill>
                  <a:srgbClr val="EF4444"/>
                </a:solidFill>
                <a:latin typeface="Calibri"/>
              </a:rPr>
              <a:t>❌  NHƯỢC ĐIỂM</a:t>
            </a:r>
          </a:p>
        </p:txBody>
      </p:sp>
      <p:sp>
        <p:nvSpPr>
          <p:cNvPr id="33" name="TextBox 32"/>
          <p:cNvSpPr txBox="1"/>
          <p:nvPr/>
        </p:nvSpPr>
        <p:spPr>
          <a:xfrm>
            <a:off x="3383280" y="4773168"/>
            <a:ext cx="2560320" cy="1737360"/>
          </a:xfrm>
          <a:prstGeom prst="rect">
            <a:avLst/>
          </a:prstGeom>
          <a:noFill/>
        </p:spPr>
        <p:txBody>
          <a:bodyPr wrap="square">
            <a:spAutoFit/>
          </a:bodyPr>
          <a:lstStyle/>
          <a:p>
            <a:pPr>
              <a:spcBef>
                <a:spcPts val="300"/>
              </a:spcBef>
            </a:pPr>
            <a:r>
              <a:rPr sz="1100" b="0">
                <a:solidFill>
                  <a:srgbClr val="FFFFFF"/>
                </a:solidFill>
                <a:latin typeface="Calibri"/>
              </a:rPr>
              <a:t>• Không đảm bảo tối ưu tuyệt đối</a:t>
            </a:r>
          </a:p>
          <a:p>
            <a:pPr>
              <a:spcBef>
                <a:spcPts val="300"/>
              </a:spcBef>
            </a:pPr>
            <a:r>
              <a:rPr sz="1100" b="0">
                <a:solidFill>
                  <a:srgbClr val="FFFFFF"/>
                </a:solidFill>
                <a:latin typeface="Calibri"/>
              </a:rPr>
              <a:t>• Phụ thuộc việc chọn tham số</a:t>
            </a:r>
          </a:p>
          <a:p>
            <a:pPr>
              <a:spcBef>
                <a:spcPts val="300"/>
              </a:spcBef>
            </a:pPr>
            <a:r>
              <a:rPr sz="1100" b="0">
                <a:solidFill>
                  <a:srgbClr val="FFFFFF"/>
                </a:solidFill>
                <a:latin typeface="Calibri"/>
              </a:rPr>
              <a:t>• Kết quả dao động giữa lần chạy</a:t>
            </a:r>
          </a:p>
          <a:p>
            <a:pPr>
              <a:spcBef>
                <a:spcPts val="300"/>
              </a:spcBef>
            </a:pPr>
            <a:r>
              <a:rPr sz="1100" b="0">
                <a:solidFill>
                  <a:srgbClr val="FFFFFF"/>
                </a:solidFill>
                <a:latin typeface="Calibri"/>
              </a:rPr>
              <a:t>• Chưa xét giao thông thực tế</a:t>
            </a:r>
          </a:p>
        </p:txBody>
      </p:sp>
      <p:sp>
        <p:nvSpPr>
          <p:cNvPr id="34" name="Rectangle 33"/>
          <p:cNvSpPr/>
          <p:nvPr/>
        </p:nvSpPr>
        <p:spPr>
          <a:xfrm>
            <a:off x="6126480" y="1325880"/>
            <a:ext cx="5605272" cy="53035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1389888"/>
            <a:ext cx="5394960" cy="320040"/>
          </a:xfrm>
          <a:prstGeom prst="rect">
            <a:avLst/>
          </a:prstGeom>
          <a:noFill/>
        </p:spPr>
        <p:txBody>
          <a:bodyPr wrap="square">
            <a:spAutoFit/>
          </a:bodyPr>
          <a:lstStyle/>
          <a:p>
            <a:pPr algn="l"/>
            <a:r>
              <a:rPr sz="1100" b="1" i="0">
                <a:solidFill>
                  <a:srgbClr val="8B5CF6"/>
                </a:solidFill>
                <a:latin typeface="Calibri"/>
              </a:rPr>
              <a:t>🚀  HƯỚNG PHÁT TRIỂN</a:t>
            </a:r>
          </a:p>
        </p:txBody>
      </p:sp>
      <p:sp>
        <p:nvSpPr>
          <p:cNvPr id="36" name="Rectangle 35"/>
          <p:cNvSpPr/>
          <p:nvPr/>
        </p:nvSpPr>
        <p:spPr>
          <a:xfrm>
            <a:off x="6263640" y="1911096"/>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1865376"/>
            <a:ext cx="256032" cy="320040"/>
          </a:xfrm>
          <a:prstGeom prst="rect">
            <a:avLst/>
          </a:prstGeom>
          <a:noFill/>
        </p:spPr>
        <p:txBody>
          <a:bodyPr wrap="square">
            <a:spAutoFit/>
          </a:bodyPr>
          <a:lstStyle/>
          <a:p>
            <a:pPr algn="ctr"/>
            <a:r>
              <a:rPr sz="1000" b="1" i="0">
                <a:solidFill>
                  <a:srgbClr val="FFFFFF"/>
                </a:solidFill>
                <a:latin typeface="Calibri"/>
              </a:rPr>
              <a:t>1</a:t>
            </a:r>
          </a:p>
        </p:txBody>
      </p:sp>
      <p:sp>
        <p:nvSpPr>
          <p:cNvPr id="38" name="TextBox 37"/>
          <p:cNvSpPr txBox="1"/>
          <p:nvPr/>
        </p:nvSpPr>
        <p:spPr>
          <a:xfrm>
            <a:off x="6601968" y="1801368"/>
            <a:ext cx="4937760" cy="548640"/>
          </a:xfrm>
          <a:prstGeom prst="rect">
            <a:avLst/>
          </a:prstGeom>
          <a:noFill/>
        </p:spPr>
        <p:txBody>
          <a:bodyPr wrap="square">
            <a:spAutoFit/>
          </a:bodyPr>
          <a:lstStyle/>
          <a:p>
            <a:pPr algn="l"/>
            <a:r>
              <a:rPr sz="1200" b="0" i="0">
                <a:solidFill>
                  <a:srgbClr val="FFFFFF"/>
                </a:solidFill>
                <a:latin typeface="Calibri"/>
              </a:rPr>
              <a:t>Tích hợp API bản đồ thực (Google Maps / Here Maps)</a:t>
            </a:r>
          </a:p>
        </p:txBody>
      </p:sp>
      <p:sp>
        <p:nvSpPr>
          <p:cNvPr id="39" name="Rectangle 38"/>
          <p:cNvSpPr/>
          <p:nvPr/>
        </p:nvSpPr>
        <p:spPr>
          <a:xfrm>
            <a:off x="6263640" y="2532888"/>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2487168"/>
            <a:ext cx="256032" cy="320040"/>
          </a:xfrm>
          <a:prstGeom prst="rect">
            <a:avLst/>
          </a:prstGeom>
          <a:noFill/>
        </p:spPr>
        <p:txBody>
          <a:bodyPr wrap="square">
            <a:spAutoFit/>
          </a:bodyPr>
          <a:lstStyle/>
          <a:p>
            <a:pPr algn="ctr"/>
            <a:r>
              <a:rPr sz="1000" b="1" i="0">
                <a:solidFill>
                  <a:srgbClr val="FFFFFF"/>
                </a:solidFill>
                <a:latin typeface="Calibri"/>
              </a:rPr>
              <a:t>2</a:t>
            </a:r>
          </a:p>
        </p:txBody>
      </p:sp>
      <p:sp>
        <p:nvSpPr>
          <p:cNvPr id="41" name="TextBox 40"/>
          <p:cNvSpPr txBox="1"/>
          <p:nvPr/>
        </p:nvSpPr>
        <p:spPr>
          <a:xfrm>
            <a:off x="6601968" y="2423160"/>
            <a:ext cx="4937760" cy="548640"/>
          </a:xfrm>
          <a:prstGeom prst="rect">
            <a:avLst/>
          </a:prstGeom>
          <a:noFill/>
        </p:spPr>
        <p:txBody>
          <a:bodyPr wrap="square">
            <a:spAutoFit/>
          </a:bodyPr>
          <a:lstStyle/>
          <a:p>
            <a:pPr algn="l"/>
            <a:r>
              <a:rPr sz="1200" b="0" i="0">
                <a:solidFill>
                  <a:srgbClr val="FFFFFF"/>
                </a:solidFill>
                <a:latin typeface="Calibri"/>
              </a:rPr>
              <a:t>Xét thời gian di chuyển thực tế theo lưu lượng giao thông</a:t>
            </a:r>
          </a:p>
        </p:txBody>
      </p:sp>
      <p:sp>
        <p:nvSpPr>
          <p:cNvPr id="42" name="Rectangle 41"/>
          <p:cNvSpPr/>
          <p:nvPr/>
        </p:nvSpPr>
        <p:spPr>
          <a:xfrm>
            <a:off x="6263640" y="3154680"/>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3108960"/>
            <a:ext cx="256032" cy="320040"/>
          </a:xfrm>
          <a:prstGeom prst="rect">
            <a:avLst/>
          </a:prstGeom>
          <a:noFill/>
        </p:spPr>
        <p:txBody>
          <a:bodyPr wrap="square">
            <a:spAutoFit/>
          </a:bodyPr>
          <a:lstStyle/>
          <a:p>
            <a:pPr algn="ctr"/>
            <a:r>
              <a:rPr sz="1000" b="1" i="0">
                <a:solidFill>
                  <a:srgbClr val="FFFFFF"/>
                </a:solidFill>
                <a:latin typeface="Calibri"/>
              </a:rPr>
              <a:t>3</a:t>
            </a:r>
          </a:p>
        </p:txBody>
      </p:sp>
      <p:sp>
        <p:nvSpPr>
          <p:cNvPr id="44" name="TextBox 43"/>
          <p:cNvSpPr txBox="1"/>
          <p:nvPr/>
        </p:nvSpPr>
        <p:spPr>
          <a:xfrm>
            <a:off x="6601968" y="3044952"/>
            <a:ext cx="4937760" cy="548640"/>
          </a:xfrm>
          <a:prstGeom prst="rect">
            <a:avLst/>
          </a:prstGeom>
          <a:noFill/>
        </p:spPr>
        <p:txBody>
          <a:bodyPr wrap="square">
            <a:spAutoFit/>
          </a:bodyPr>
          <a:lstStyle/>
          <a:p>
            <a:pPr algn="l"/>
            <a:r>
              <a:rPr sz="1200" b="0" i="0">
                <a:solidFill>
                  <a:srgbClr val="FFFFFF"/>
                </a:solidFill>
                <a:latin typeface="Calibri"/>
              </a:rPr>
              <a:t>Thêm ràng buộc thời gian giao hàng (Time Window Constraints)</a:t>
            </a:r>
          </a:p>
        </p:txBody>
      </p:sp>
      <p:sp>
        <p:nvSpPr>
          <p:cNvPr id="45" name="Rectangle 44"/>
          <p:cNvSpPr/>
          <p:nvPr/>
        </p:nvSpPr>
        <p:spPr>
          <a:xfrm>
            <a:off x="6263640" y="3776472"/>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3730752"/>
            <a:ext cx="256032" cy="320040"/>
          </a:xfrm>
          <a:prstGeom prst="rect">
            <a:avLst/>
          </a:prstGeom>
          <a:noFill/>
        </p:spPr>
        <p:txBody>
          <a:bodyPr wrap="square">
            <a:spAutoFit/>
          </a:bodyPr>
          <a:lstStyle/>
          <a:p>
            <a:pPr algn="ctr"/>
            <a:r>
              <a:rPr sz="1000" b="1" i="0">
                <a:solidFill>
                  <a:srgbClr val="FFFFFF"/>
                </a:solidFill>
                <a:latin typeface="Calibri"/>
              </a:rPr>
              <a:t>4</a:t>
            </a:r>
          </a:p>
        </p:txBody>
      </p:sp>
      <p:sp>
        <p:nvSpPr>
          <p:cNvPr id="47" name="TextBox 46"/>
          <p:cNvSpPr txBox="1"/>
          <p:nvPr/>
        </p:nvSpPr>
        <p:spPr>
          <a:xfrm>
            <a:off x="6601968" y="3666744"/>
            <a:ext cx="4937760" cy="548640"/>
          </a:xfrm>
          <a:prstGeom prst="rect">
            <a:avLst/>
          </a:prstGeom>
          <a:noFill/>
        </p:spPr>
        <p:txBody>
          <a:bodyPr wrap="square">
            <a:spAutoFit/>
          </a:bodyPr>
          <a:lstStyle/>
          <a:p>
            <a:pPr algn="l"/>
            <a:r>
              <a:rPr sz="1200" b="0" i="0">
                <a:solidFill>
                  <a:srgbClr val="FFFFFF"/>
                </a:solidFill>
                <a:latin typeface="Calibri"/>
              </a:rPr>
              <a:t>Mở rộng lên 50+ địa điểm trên toàn TP.HCM</a:t>
            </a:r>
          </a:p>
        </p:txBody>
      </p:sp>
      <p:sp>
        <p:nvSpPr>
          <p:cNvPr id="48" name="Rectangle 47"/>
          <p:cNvSpPr/>
          <p:nvPr/>
        </p:nvSpPr>
        <p:spPr>
          <a:xfrm>
            <a:off x="6263640" y="4398264"/>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4352544"/>
            <a:ext cx="256032" cy="320040"/>
          </a:xfrm>
          <a:prstGeom prst="rect">
            <a:avLst/>
          </a:prstGeom>
          <a:noFill/>
        </p:spPr>
        <p:txBody>
          <a:bodyPr wrap="square">
            <a:spAutoFit/>
          </a:bodyPr>
          <a:lstStyle/>
          <a:p>
            <a:pPr algn="ctr"/>
            <a:r>
              <a:rPr sz="1000" b="1" i="0">
                <a:solidFill>
                  <a:srgbClr val="FFFFFF"/>
                </a:solidFill>
                <a:latin typeface="Calibri"/>
              </a:rPr>
              <a:t>5</a:t>
            </a:r>
          </a:p>
        </p:txBody>
      </p:sp>
      <p:sp>
        <p:nvSpPr>
          <p:cNvPr id="50" name="TextBox 49"/>
          <p:cNvSpPr txBox="1"/>
          <p:nvPr/>
        </p:nvSpPr>
        <p:spPr>
          <a:xfrm>
            <a:off x="6601968" y="4288536"/>
            <a:ext cx="4937760" cy="548640"/>
          </a:xfrm>
          <a:prstGeom prst="rect">
            <a:avLst/>
          </a:prstGeom>
          <a:noFill/>
        </p:spPr>
        <p:txBody>
          <a:bodyPr wrap="square">
            <a:spAutoFit/>
          </a:bodyPr>
          <a:lstStyle/>
          <a:p>
            <a:pPr algn="l"/>
            <a:r>
              <a:rPr sz="1200" b="0" i="0">
                <a:solidFill>
                  <a:srgbClr val="FFFFFF"/>
                </a:solidFill>
                <a:latin typeface="Calibri"/>
              </a:rPr>
              <a:t>So sánh với các giải thuật khác: Genetic, ACO, Tabu Search</a:t>
            </a:r>
          </a:p>
        </p:txBody>
      </p:sp>
      <p:sp>
        <p:nvSpPr>
          <p:cNvPr id="51" name="Rectangle 50"/>
          <p:cNvSpPr/>
          <p:nvPr/>
        </p:nvSpPr>
        <p:spPr>
          <a:xfrm>
            <a:off x="6263640" y="5020056"/>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4974336"/>
            <a:ext cx="256032" cy="320040"/>
          </a:xfrm>
          <a:prstGeom prst="rect">
            <a:avLst/>
          </a:prstGeom>
          <a:noFill/>
        </p:spPr>
        <p:txBody>
          <a:bodyPr wrap="square">
            <a:spAutoFit/>
          </a:bodyPr>
          <a:lstStyle/>
          <a:p>
            <a:pPr algn="ctr"/>
            <a:r>
              <a:rPr sz="1000" b="1" i="0">
                <a:solidFill>
                  <a:srgbClr val="FFFFFF"/>
                </a:solidFill>
                <a:latin typeface="Calibri"/>
              </a:rPr>
              <a:t>6</a:t>
            </a:r>
          </a:p>
        </p:txBody>
      </p:sp>
      <p:sp>
        <p:nvSpPr>
          <p:cNvPr id="53" name="TextBox 52"/>
          <p:cNvSpPr txBox="1"/>
          <p:nvPr/>
        </p:nvSpPr>
        <p:spPr>
          <a:xfrm>
            <a:off x="6601968" y="4910328"/>
            <a:ext cx="4937760" cy="548640"/>
          </a:xfrm>
          <a:prstGeom prst="rect">
            <a:avLst/>
          </a:prstGeom>
          <a:noFill/>
        </p:spPr>
        <p:txBody>
          <a:bodyPr wrap="square">
            <a:spAutoFit/>
          </a:bodyPr>
          <a:lstStyle/>
          <a:p>
            <a:pPr algn="l"/>
            <a:r>
              <a:rPr sz="1200" b="0" i="0">
                <a:solidFill>
                  <a:srgbClr val="FFFFFF"/>
                </a:solidFill>
                <a:latin typeface="Calibri"/>
              </a:rPr>
              <a:t>Phát triển ứng dụng mobile cho shipper (Flutter/React Native)</a:t>
            </a:r>
          </a:p>
        </p:txBody>
      </p:sp>
      <p:sp>
        <p:nvSpPr>
          <p:cNvPr id="54" name="Rectangle 53"/>
          <p:cNvSpPr/>
          <p:nvPr/>
        </p:nvSpPr>
        <p:spPr>
          <a:xfrm>
            <a:off x="6263640" y="5641848"/>
            <a:ext cx="256032" cy="2560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63640" y="5596128"/>
            <a:ext cx="256032" cy="320040"/>
          </a:xfrm>
          <a:prstGeom prst="rect">
            <a:avLst/>
          </a:prstGeom>
          <a:noFill/>
        </p:spPr>
        <p:txBody>
          <a:bodyPr wrap="square">
            <a:spAutoFit/>
          </a:bodyPr>
          <a:lstStyle/>
          <a:p>
            <a:pPr algn="ctr"/>
            <a:r>
              <a:rPr sz="1000" b="1" i="0">
                <a:solidFill>
                  <a:srgbClr val="FFFFFF"/>
                </a:solidFill>
                <a:latin typeface="Calibri"/>
              </a:rPr>
              <a:t>7</a:t>
            </a:r>
          </a:p>
        </p:txBody>
      </p:sp>
      <p:sp>
        <p:nvSpPr>
          <p:cNvPr id="56" name="TextBox 55"/>
          <p:cNvSpPr txBox="1"/>
          <p:nvPr/>
        </p:nvSpPr>
        <p:spPr>
          <a:xfrm>
            <a:off x="6601968" y="5532120"/>
            <a:ext cx="4937760" cy="548640"/>
          </a:xfrm>
          <a:prstGeom prst="rect">
            <a:avLst/>
          </a:prstGeom>
          <a:noFill/>
        </p:spPr>
        <p:txBody>
          <a:bodyPr wrap="square">
            <a:spAutoFit/>
          </a:bodyPr>
          <a:lstStyle/>
          <a:p>
            <a:pPr algn="l"/>
            <a:r>
              <a:rPr sz="1200" b="0" i="0">
                <a:solidFill>
                  <a:srgbClr val="FFFFFF"/>
                </a:solidFill>
                <a:latin typeface="Calibri"/>
              </a:rPr>
              <a:t>Dashboard theo dõi hiệu quả giao hàng theo thời gian thực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428"/>
        </a:solidFill>
        <a:effectLst/>
      </p:bgPr>
    </p:bg>
    <p:spTree>
      <p:nvGrpSpPr>
        <p:cNvPr id="1" name=""/>
        <p:cNvGrpSpPr/>
        <p:nvPr/>
      </p:nvGrpSpPr>
      <p:grpSpPr/>
      <p:sp>
        <p:nvSpPr>
          <p:cNvPr id="2" name="Rectangle 1"/>
          <p:cNvSpPr/>
          <p:nvPr/>
        </p:nvSpPr>
        <p:spPr>
          <a:xfrm>
            <a:off x="0" y="0"/>
            <a:ext cx="12188952" cy="2286000"/>
          </a:xfrm>
          <a:prstGeom prst="rect">
            <a:avLst/>
          </a:prstGeom>
          <a:solidFill>
            <a:srgbClr val="0A1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0" y="91440"/>
            <a:ext cx="2130552" cy="822960"/>
          </a:xfrm>
          <a:prstGeom prst="rect">
            <a:avLst/>
          </a:prstGeom>
          <a:noFill/>
        </p:spPr>
        <p:txBody>
          <a:bodyPr wrap="square">
            <a:spAutoFit/>
          </a:bodyPr>
          <a:lstStyle/>
          <a:p>
            <a:pPr algn="ctr"/>
            <a:r>
              <a:rPr sz="4200" b="0" i="0">
                <a:solidFill>
                  <a:srgbClr val="FFFFFF"/>
                </a:solidFill>
                <a:latin typeface="Calibri"/>
              </a:rPr>
              <a:t>🚚</a:t>
            </a:r>
          </a:p>
        </p:txBody>
      </p:sp>
      <p:sp>
        <p:nvSpPr>
          <p:cNvPr id="4" name="TextBox 3"/>
          <p:cNvSpPr txBox="1"/>
          <p:nvPr/>
        </p:nvSpPr>
        <p:spPr>
          <a:xfrm>
            <a:off x="914400" y="868680"/>
            <a:ext cx="10360152" cy="594360"/>
          </a:xfrm>
          <a:prstGeom prst="rect">
            <a:avLst/>
          </a:prstGeom>
          <a:noFill/>
        </p:spPr>
        <p:txBody>
          <a:bodyPr wrap="square">
            <a:spAutoFit/>
          </a:bodyPr>
          <a:lstStyle/>
          <a:p>
            <a:pPr algn="ctr"/>
            <a:r>
              <a:rPr sz="3600" b="1" i="0">
                <a:solidFill>
                  <a:srgbClr val="FFFFFF"/>
                </a:solidFill>
                <a:latin typeface="Calibri"/>
              </a:rPr>
              <a:t>Kết luận</a:t>
            </a:r>
          </a:p>
        </p:txBody>
      </p:sp>
      <p:sp>
        <p:nvSpPr>
          <p:cNvPr id="5" name="Rectangle 4"/>
          <p:cNvSpPr/>
          <p:nvPr/>
        </p:nvSpPr>
        <p:spPr>
          <a:xfrm>
            <a:off x="4937760" y="1508760"/>
            <a:ext cx="2313432"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1097280"/>
          </a:xfrm>
          <a:prstGeom prst="rect">
            <a:avLst/>
          </a:prstGeom>
          <a:noFill/>
        </p:spPr>
        <p:txBody>
          <a:bodyPr wrap="square">
            <a:spAutoFit/>
          </a:bodyPr>
          <a:lstStyle/>
          <a:p>
            <a:pPr algn="ctr"/>
            <a:r>
              <a:rPr sz="1400" b="0" i="0">
                <a:solidFill>
                  <a:srgbClr val="94A3B8"/>
                </a:solidFill>
                <a:latin typeface="Calibri"/>
              </a:rPr>
              <a:t>Nhóm đã xây dựng thành công ứng dụng Master Delivery — giải quyết bài toán TSP
cho 14 địa điểm giao hàng tại TP.HCM bằng Simulated Annealing + 2-opt Swap.
Hệ thống hoàn chỉnh từ Backend (FastAPI) đến Frontend (Streamlit) với bản đồ thực tế.</a:t>
            </a:r>
          </a:p>
        </p:txBody>
      </p:sp>
      <p:sp>
        <p:nvSpPr>
          <p:cNvPr id="7" name="Rectangle 6"/>
          <p:cNvSpPr/>
          <p:nvPr/>
        </p:nvSpPr>
        <p:spPr>
          <a:xfrm>
            <a:off x="1371600" y="2880360"/>
            <a:ext cx="3017520" cy="11887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971800"/>
            <a:ext cx="3017520" cy="548640"/>
          </a:xfrm>
          <a:prstGeom prst="rect">
            <a:avLst/>
          </a:prstGeom>
          <a:noFill/>
        </p:spPr>
        <p:txBody>
          <a:bodyPr wrap="square">
            <a:spAutoFit/>
          </a:bodyPr>
          <a:lstStyle/>
          <a:p>
            <a:pPr algn="ctr"/>
            <a:r>
              <a:rPr sz="2400" b="1" i="0">
                <a:solidFill>
                  <a:srgbClr val="60A5FA"/>
                </a:solidFill>
                <a:latin typeface="Calibri"/>
              </a:rPr>
              <a:t>100,000</a:t>
            </a:r>
          </a:p>
        </p:txBody>
      </p:sp>
      <p:sp>
        <p:nvSpPr>
          <p:cNvPr id="9" name="TextBox 8"/>
          <p:cNvSpPr txBox="1"/>
          <p:nvPr/>
        </p:nvSpPr>
        <p:spPr>
          <a:xfrm>
            <a:off x="1371600" y="3493008"/>
            <a:ext cx="3017520" cy="502920"/>
          </a:xfrm>
          <a:prstGeom prst="rect">
            <a:avLst/>
          </a:prstGeom>
          <a:noFill/>
        </p:spPr>
        <p:txBody>
          <a:bodyPr wrap="square">
            <a:spAutoFit/>
          </a:bodyPr>
          <a:lstStyle/>
          <a:p>
            <a:pPr algn="ctr"/>
            <a:r>
              <a:rPr sz="1200" b="0" i="0">
                <a:solidFill>
                  <a:srgbClr val="94A3B8"/>
                </a:solidFill>
                <a:latin typeface="Calibri"/>
              </a:rPr>
              <a:t>Vòng lặp
tối ưu hóa</a:t>
            </a:r>
          </a:p>
        </p:txBody>
      </p:sp>
      <p:sp>
        <p:nvSpPr>
          <p:cNvPr id="10" name="Rectangle 9"/>
          <p:cNvSpPr/>
          <p:nvPr/>
        </p:nvSpPr>
        <p:spPr>
          <a:xfrm>
            <a:off x="4846320" y="2880360"/>
            <a:ext cx="3017520" cy="11887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2971800"/>
            <a:ext cx="3017520" cy="548640"/>
          </a:xfrm>
          <a:prstGeom prst="rect">
            <a:avLst/>
          </a:prstGeom>
          <a:noFill/>
        </p:spPr>
        <p:txBody>
          <a:bodyPr wrap="square">
            <a:spAutoFit/>
          </a:bodyPr>
          <a:lstStyle/>
          <a:p>
            <a:pPr algn="ctr"/>
            <a:r>
              <a:rPr sz="2400" b="1" i="0">
                <a:solidFill>
                  <a:srgbClr val="60A5FA"/>
                </a:solidFill>
                <a:latin typeface="Calibri"/>
              </a:rPr>
              <a:t>14</a:t>
            </a:r>
          </a:p>
        </p:txBody>
      </p:sp>
      <p:sp>
        <p:nvSpPr>
          <p:cNvPr id="12" name="TextBox 11"/>
          <p:cNvSpPr txBox="1"/>
          <p:nvPr/>
        </p:nvSpPr>
        <p:spPr>
          <a:xfrm>
            <a:off x="4846320" y="3493008"/>
            <a:ext cx="3017520" cy="502920"/>
          </a:xfrm>
          <a:prstGeom prst="rect">
            <a:avLst/>
          </a:prstGeom>
          <a:noFill/>
        </p:spPr>
        <p:txBody>
          <a:bodyPr wrap="square">
            <a:spAutoFit/>
          </a:bodyPr>
          <a:lstStyle/>
          <a:p>
            <a:pPr algn="ctr"/>
            <a:r>
              <a:rPr sz="1200" b="0" i="0">
                <a:solidFill>
                  <a:srgbClr val="94A3B8"/>
                </a:solidFill>
                <a:latin typeface="Calibri"/>
              </a:rPr>
              <a:t>Địa điểm
TP.HCM</a:t>
            </a:r>
          </a:p>
        </p:txBody>
      </p:sp>
      <p:sp>
        <p:nvSpPr>
          <p:cNvPr id="13" name="Rectangle 12"/>
          <p:cNvSpPr/>
          <p:nvPr/>
        </p:nvSpPr>
        <p:spPr>
          <a:xfrm>
            <a:off x="8321040" y="2880360"/>
            <a:ext cx="3017520" cy="118872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971800"/>
            <a:ext cx="3017520" cy="548640"/>
          </a:xfrm>
          <a:prstGeom prst="rect">
            <a:avLst/>
          </a:prstGeom>
          <a:noFill/>
        </p:spPr>
        <p:txBody>
          <a:bodyPr wrap="square">
            <a:spAutoFit/>
          </a:bodyPr>
          <a:lstStyle/>
          <a:p>
            <a:pPr algn="ctr"/>
            <a:r>
              <a:rPr sz="2400" b="1" i="0">
                <a:solidFill>
                  <a:srgbClr val="60A5FA"/>
                </a:solidFill>
                <a:latin typeface="Calibri"/>
              </a:rPr>
              <a:t>3</a:t>
            </a:r>
          </a:p>
        </p:txBody>
      </p:sp>
      <p:sp>
        <p:nvSpPr>
          <p:cNvPr id="15" name="TextBox 14"/>
          <p:cNvSpPr txBox="1"/>
          <p:nvPr/>
        </p:nvSpPr>
        <p:spPr>
          <a:xfrm>
            <a:off x="8321040" y="3493008"/>
            <a:ext cx="3017520" cy="502920"/>
          </a:xfrm>
          <a:prstGeom prst="rect">
            <a:avLst/>
          </a:prstGeom>
          <a:noFill/>
        </p:spPr>
        <p:txBody>
          <a:bodyPr wrap="square">
            <a:spAutoFit/>
          </a:bodyPr>
          <a:lstStyle/>
          <a:p>
            <a:pPr algn="ctr"/>
            <a:r>
              <a:rPr sz="1200" b="0" i="0">
                <a:solidFill>
                  <a:srgbClr val="94A3B8"/>
                </a:solidFill>
                <a:latin typeface="Calibri"/>
              </a:rPr>
              <a:t>Files
source code</a:t>
            </a:r>
          </a:p>
        </p:txBody>
      </p:sp>
      <p:sp>
        <p:nvSpPr>
          <p:cNvPr id="16" name="Rectangle 15"/>
          <p:cNvSpPr/>
          <p:nvPr/>
        </p:nvSpPr>
        <p:spPr>
          <a:xfrm>
            <a:off x="0" y="4251960"/>
            <a:ext cx="12188952" cy="25400"/>
          </a:xfrm>
          <a:prstGeom prst="rect">
            <a:avLst/>
          </a:prstGeom>
          <a:solidFill>
            <a:srgbClr val="1E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34840"/>
            <a:ext cx="10360152" cy="548640"/>
          </a:xfrm>
          <a:prstGeom prst="rect">
            <a:avLst/>
          </a:prstGeom>
          <a:noFill/>
        </p:spPr>
        <p:txBody>
          <a:bodyPr wrap="square">
            <a:spAutoFit/>
          </a:bodyPr>
          <a:lstStyle/>
          <a:p>
            <a:pPr algn="ctr"/>
            <a:r>
              <a:rPr sz="2200" b="1" i="0">
                <a:solidFill>
                  <a:srgbClr val="FFFFFF"/>
                </a:solidFill>
                <a:latin typeface="Calibri"/>
              </a:rPr>
              <a:t>🙏  Xin cảm ơn Thầy/Cô và các bạn đã lắng nghe!</a:t>
            </a:r>
          </a:p>
        </p:txBody>
      </p:sp>
      <p:sp>
        <p:nvSpPr>
          <p:cNvPr id="18" name="TextBox 17"/>
          <p:cNvSpPr txBox="1"/>
          <p:nvPr/>
        </p:nvSpPr>
        <p:spPr>
          <a:xfrm>
            <a:off x="914400" y="4956048"/>
            <a:ext cx="10360152" cy="365760"/>
          </a:xfrm>
          <a:prstGeom prst="rect">
            <a:avLst/>
          </a:prstGeom>
          <a:noFill/>
        </p:spPr>
        <p:txBody>
          <a:bodyPr wrap="square">
            <a:spAutoFit/>
          </a:bodyPr>
          <a:lstStyle/>
          <a:p>
            <a:pPr algn="ctr"/>
            <a:r>
              <a:rPr sz="1400" b="0" i="1">
                <a:solidFill>
                  <a:srgbClr val="94A3B8"/>
                </a:solidFill>
                <a:latin typeface="Calibri"/>
              </a:rPr>
              <a:t>Nhóm rất sẵn sàng giải đáp câu hỏi &amp; thảo luận thêm.</a:t>
            </a:r>
          </a:p>
        </p:txBody>
      </p:sp>
      <p:sp>
        <p:nvSpPr>
          <p:cNvPr id="19" name="Rectangle 18"/>
          <p:cNvSpPr/>
          <p:nvPr/>
        </p:nvSpPr>
        <p:spPr>
          <a:xfrm>
            <a:off x="1417320" y="5486400"/>
            <a:ext cx="29260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5596128"/>
            <a:ext cx="2926080" cy="384048"/>
          </a:xfrm>
          <a:prstGeom prst="rect">
            <a:avLst/>
          </a:prstGeom>
          <a:noFill/>
        </p:spPr>
        <p:txBody>
          <a:bodyPr wrap="square">
            <a:spAutoFit/>
          </a:bodyPr>
          <a:lstStyle/>
          <a:p>
            <a:pPr algn="ctr"/>
            <a:r>
              <a:rPr sz="1400" b="1" i="0">
                <a:solidFill>
                  <a:srgbClr val="FFFFFF"/>
                </a:solidFill>
                <a:latin typeface="Calibri"/>
              </a:rPr>
              <a:t>Nguyễn Văn A</a:t>
            </a:r>
          </a:p>
        </p:txBody>
      </p:sp>
      <p:sp>
        <p:nvSpPr>
          <p:cNvPr id="21" name="TextBox 20"/>
          <p:cNvSpPr txBox="1"/>
          <p:nvPr/>
        </p:nvSpPr>
        <p:spPr>
          <a:xfrm>
            <a:off x="1417320" y="5961888"/>
            <a:ext cx="2926080" cy="384048"/>
          </a:xfrm>
          <a:prstGeom prst="rect">
            <a:avLst/>
          </a:prstGeom>
          <a:noFill/>
        </p:spPr>
        <p:txBody>
          <a:bodyPr wrap="square">
            <a:spAutoFit/>
          </a:bodyPr>
          <a:lstStyle/>
          <a:p>
            <a:pPr algn="ctr"/>
            <a:r>
              <a:rPr sz="1200" b="0" i="0">
                <a:solidFill>
                  <a:srgbClr val="60A5FA"/>
                </a:solidFill>
                <a:latin typeface="Calibri"/>
              </a:rPr>
              <a:t>MSSV: 12345678</a:t>
            </a:r>
          </a:p>
        </p:txBody>
      </p:sp>
      <p:sp>
        <p:nvSpPr>
          <p:cNvPr id="22" name="Rectangle 21"/>
          <p:cNvSpPr/>
          <p:nvPr/>
        </p:nvSpPr>
        <p:spPr>
          <a:xfrm>
            <a:off x="4754880" y="5486400"/>
            <a:ext cx="29260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5596128"/>
            <a:ext cx="2926080" cy="384048"/>
          </a:xfrm>
          <a:prstGeom prst="rect">
            <a:avLst/>
          </a:prstGeom>
          <a:noFill/>
        </p:spPr>
        <p:txBody>
          <a:bodyPr wrap="square">
            <a:spAutoFit/>
          </a:bodyPr>
          <a:lstStyle/>
          <a:p>
            <a:pPr algn="ctr"/>
            <a:r>
              <a:rPr sz="1400" b="1" i="0">
                <a:solidFill>
                  <a:srgbClr val="FFFFFF"/>
                </a:solidFill>
                <a:latin typeface="Calibri"/>
              </a:rPr>
              <a:t>Trần Thị B</a:t>
            </a:r>
          </a:p>
        </p:txBody>
      </p:sp>
      <p:sp>
        <p:nvSpPr>
          <p:cNvPr id="24" name="TextBox 23"/>
          <p:cNvSpPr txBox="1"/>
          <p:nvPr/>
        </p:nvSpPr>
        <p:spPr>
          <a:xfrm>
            <a:off x="4754880" y="5961888"/>
            <a:ext cx="2926080" cy="384048"/>
          </a:xfrm>
          <a:prstGeom prst="rect">
            <a:avLst/>
          </a:prstGeom>
          <a:noFill/>
        </p:spPr>
        <p:txBody>
          <a:bodyPr wrap="square">
            <a:spAutoFit/>
          </a:bodyPr>
          <a:lstStyle/>
          <a:p>
            <a:pPr algn="ctr"/>
            <a:r>
              <a:rPr sz="1200" b="0" i="0">
                <a:solidFill>
                  <a:srgbClr val="60A5FA"/>
                </a:solidFill>
                <a:latin typeface="Calibri"/>
              </a:rPr>
              <a:t>MSSV: 12345679</a:t>
            </a:r>
          </a:p>
        </p:txBody>
      </p:sp>
      <p:sp>
        <p:nvSpPr>
          <p:cNvPr id="25" name="Rectangle 24"/>
          <p:cNvSpPr/>
          <p:nvPr/>
        </p:nvSpPr>
        <p:spPr>
          <a:xfrm>
            <a:off x="8092440" y="5486400"/>
            <a:ext cx="2926080" cy="1097280"/>
          </a:xfrm>
          <a:prstGeom prst="rect">
            <a:avLst/>
          </a:prstGeom>
          <a:solidFill>
            <a:srgbClr val="16213E"/>
          </a:solidFill>
          <a:ln w="12700">
            <a:solidFill>
              <a:srgbClr val="1E2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5596128"/>
            <a:ext cx="2926080" cy="384048"/>
          </a:xfrm>
          <a:prstGeom prst="rect">
            <a:avLst/>
          </a:prstGeom>
          <a:noFill/>
        </p:spPr>
        <p:txBody>
          <a:bodyPr wrap="square">
            <a:spAutoFit/>
          </a:bodyPr>
          <a:lstStyle/>
          <a:p>
            <a:pPr algn="ctr"/>
            <a:r>
              <a:rPr sz="1400" b="1" i="0">
                <a:solidFill>
                  <a:srgbClr val="FFFFFF"/>
                </a:solidFill>
                <a:latin typeface="Calibri"/>
              </a:rPr>
              <a:t>Lê Văn C</a:t>
            </a:r>
          </a:p>
        </p:txBody>
      </p:sp>
      <p:sp>
        <p:nvSpPr>
          <p:cNvPr id="27" name="TextBox 26"/>
          <p:cNvSpPr txBox="1"/>
          <p:nvPr/>
        </p:nvSpPr>
        <p:spPr>
          <a:xfrm>
            <a:off x="8092440" y="5961888"/>
            <a:ext cx="2926080" cy="384048"/>
          </a:xfrm>
          <a:prstGeom prst="rect">
            <a:avLst/>
          </a:prstGeom>
          <a:noFill/>
        </p:spPr>
        <p:txBody>
          <a:bodyPr wrap="square">
            <a:spAutoFit/>
          </a:bodyPr>
          <a:lstStyle/>
          <a:p>
            <a:pPr algn="ctr"/>
            <a:r>
              <a:rPr sz="1200" b="0" i="0">
                <a:solidFill>
                  <a:srgbClr val="60A5FA"/>
                </a:solidFill>
                <a:latin typeface="Calibri"/>
              </a:rPr>
              <a:t>MSSV: 12345680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