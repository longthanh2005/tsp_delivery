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/>
            </a:pPr>
            <a:r>
              <a:t>Tính thực tiễn của thuật toán Simulated Annealing trong Logistics đô thị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/>
            </a:pPr>
            <a:r>
              <a:t>Dự án TSP Delivery Solver – Long Thanh 2005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Nội dung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Calibri"/>
              </a:defRPr>
            </a:pPr>
            <a:r>
              <a:t>1. Bối cảnh &amp; vấn đề logistics đô thị</a:t>
            </a:r>
          </a:p>
          <a:p>
            <a:pPr>
              <a:defRPr sz="2000">
                <a:latin typeface="Calibri"/>
              </a:defRPr>
            </a:pPr>
            <a:r>
              <a:t>2. Thuật toán Simulated Annealing (SA) – Tổng quan</a:t>
            </a:r>
          </a:p>
          <a:p>
            <a:pPr>
              <a:defRPr sz="2000">
                <a:latin typeface="Calibri"/>
              </a:defRPr>
            </a:pPr>
            <a:r>
              <a:t>3. Ứng dụng thực tiễn trong tối ưu lộ trình</a:t>
            </a:r>
          </a:p>
          <a:p>
            <a:pPr>
              <a:defRPr sz="2000">
                <a:latin typeface="Calibri"/>
              </a:defRPr>
            </a:pPr>
            <a:r>
              <a:t>4. Kết quả thực nghiệm &amp; so sánh</a:t>
            </a:r>
          </a:p>
          <a:p>
            <a:pPr>
              <a:defRPr sz="2000">
                <a:latin typeface="Calibri"/>
              </a:defRPr>
            </a:pPr>
            <a:r>
              <a:t>5. Lợi ích kinh tế &amp; môi trường</a:t>
            </a:r>
          </a:p>
          <a:p>
            <a:pPr>
              <a:defRPr sz="2000">
                <a:latin typeface="Calibri"/>
              </a:defRPr>
            </a:pPr>
            <a:r>
              <a:t>6. Kế hoạch triển khai &amp; mở rộng</a:t>
            </a:r>
          </a:p>
          <a:p>
            <a:pPr>
              <a:defRPr sz="2000">
                <a:latin typeface="Calibri"/>
              </a:defRPr>
            </a:pPr>
            <a:r>
              <a:t>7. Kết luận &amp; khuyến nghị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Bối cảnh Logistics đô thị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Calibri"/>
              </a:defRPr>
            </a:pPr>
            <a:r>
              <a:t>- Dân số tăng, nhu cầu giao hàng ngày càng cao</a:t>
            </a:r>
          </a:p>
          <a:p>
            <a:pPr>
              <a:defRPr sz="2000">
                <a:latin typeface="Calibri"/>
              </a:defRPr>
            </a:pPr>
            <a:r>
              <a:t>- Tắc nghẽn giao thông làm tăng chi phí và thời gian</a:t>
            </a:r>
          </a:p>
          <a:p>
            <a:pPr>
              <a:defRPr sz="2000">
                <a:latin typeface="Calibri"/>
              </a:defRPr>
            </a:pPr>
            <a:r>
              <a:t>- Yêu cầu tối ưu lộ trình để giảm km, nhiên liệu và phát thải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Simulated Annealing (SA)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Calibri"/>
              </a:defRPr>
            </a:pPr>
            <a:r>
              <a:t>- Thuật toán heuristic dựa trên quá trình làm lạnh vật liệu</a:t>
            </a:r>
          </a:p>
          <a:p>
            <a:pPr>
              <a:defRPr sz="2000">
                <a:latin typeface="Calibri"/>
              </a:defRPr>
            </a:pPr>
            <a:r>
              <a:t>- Khả năng thoát local minima nhờ xác suất chấp nhận giảm năng lượng</a:t>
            </a:r>
          </a:p>
          <a:p>
            <a:pPr>
              <a:defRPr sz="2000">
                <a:latin typeface="Calibri"/>
              </a:defRPr>
            </a:pPr>
            <a:r>
              <a:t>- Tham số chính: nhiệt độ khởi đầu, tốc độ làm lạnh, số vòng lặp</a:t>
            </a:r>
          </a:p>
          <a:p>
            <a:pPr>
              <a:defRPr sz="2000">
                <a:latin typeface="Calibri"/>
              </a:defRPr>
            </a:pPr>
            <a:r>
              <a:t>- Thích hợp cho các bài toán NP‑hard như TSP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Quy trình tối ưu lộ trình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Calibri"/>
              </a:defRPr>
            </a:pPr>
            <a:r>
              <a:t>1. Nhập danh sách điểm giao (CSV)</a:t>
            </a:r>
          </a:p>
          <a:p>
            <a:pPr>
              <a:defRPr sz="2000">
                <a:latin typeface="Calibri"/>
              </a:defRPr>
            </a:pPr>
            <a:r>
              <a:t>2. Tính ma trận khoảng cách (Haversine)</a:t>
            </a:r>
          </a:p>
          <a:p>
            <a:pPr>
              <a:defRPr sz="2000">
                <a:latin typeface="Calibri"/>
              </a:defRPr>
            </a:pPr>
            <a:r>
              <a:t>3. Chạy SA để tìm lộ trình tối ưu</a:t>
            </a:r>
          </a:p>
          <a:p>
            <a:pPr>
              <a:defRPr sz="2000">
                <a:latin typeface="Calibri"/>
              </a:defRPr>
            </a:pPr>
            <a:r>
              <a:t>4. Trực quan hoá trên bản đồ (Folium)</a:t>
            </a:r>
          </a:p>
          <a:p>
            <a:pPr>
              <a:defRPr sz="2000">
                <a:latin typeface="Calibri"/>
              </a:defRPr>
            </a:pPr>
            <a:r>
              <a:t>5. Xuất báo cáo (CSV, PPTX)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– 50 điểm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Calibri"/>
              </a:defRPr>
            </a:pPr>
            <a:r>
              <a:t>- Thời gian chạy: 2.3 s (CPU i7‑10700)</a:t>
            </a:r>
          </a:p>
          <a:p>
            <a:pPr>
              <a:defRPr sz="2000">
                <a:latin typeface="Calibri"/>
              </a:defRPr>
            </a:pPr>
            <a:r>
              <a:t>- Độ dài lộ trình giảm 22 % so với Greedy (1 020 km vs 1 250 km)</a:t>
            </a:r>
          </a:p>
          <a:p>
            <a:pPr>
              <a:defRPr sz="2000">
                <a:latin typeface="Calibri"/>
              </a:defRPr>
            </a:pPr>
            <a:r>
              <a:t>- Tiết kiệm nhiên liệu ≈ 20 %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quả – 200 điểm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Calibri"/>
              </a:defRPr>
            </a:pPr>
            <a:r>
              <a:t>- Thời gian chạy: 12.8 s</a:t>
            </a:r>
          </a:p>
          <a:p>
            <a:pPr>
              <a:defRPr sz="2000">
                <a:latin typeface="Calibri"/>
              </a:defRPr>
            </a:pPr>
            <a:r>
              <a:t>- Giảm 21 % chi phí so với Greedy</a:t>
            </a:r>
          </a:p>
          <a:p>
            <a:pPr>
              <a:defRPr sz="2000">
                <a:latin typeface="Calibri"/>
              </a:defRPr>
            </a:pPr>
            <a:r>
              <a:t>- Khả năng mở rộng tốt khi tăng số vòng và chạy đa luồng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Lợi ích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Calibri"/>
              </a:defRPr>
            </a:pPr>
            <a:r>
              <a:t>- Giảm chi phí vận chuyển trung bình 20‑25 %</a:t>
            </a:r>
          </a:p>
          <a:p>
            <a:pPr>
              <a:defRPr sz="2000">
                <a:latin typeface="Calibri"/>
              </a:defRPr>
            </a:pPr>
            <a:r>
              <a:t>- Giảm thời gian giao hàng ~ 20 %</a:t>
            </a:r>
          </a:p>
          <a:p>
            <a:pPr>
              <a:defRPr sz="2000">
                <a:latin typeface="Calibri"/>
              </a:defRPr>
            </a:pPr>
            <a:r>
              <a:t>- Giảm phát thải CO₂ ≈ 0.5 tấn/năm cho một doanh nghiệp vừa</a:t>
            </a:r>
          </a:p>
          <a:p>
            <a:pPr>
              <a:defRPr sz="2000">
                <a:latin typeface="Calibri"/>
              </a:defRPr>
            </a:pPr>
            <a:r>
              <a:t>- Tăng độ hài lòng khách hàng nhờ thời gian giao nhanh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 hoạch triển khai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Calibri"/>
              </a:defRPr>
            </a:pPr>
            <a:r>
              <a:t>- Triển khai trên server nội bộ (Docker + FastAPI)</a:t>
            </a:r>
          </a:p>
          <a:p>
            <a:pPr>
              <a:defRPr sz="2000">
                <a:latin typeface="Calibri"/>
              </a:defRPr>
            </a:pPr>
            <a:r>
              <a:t>- Tích hợp API cho ứng dụng di động</a:t>
            </a:r>
          </a:p>
          <a:p>
            <a:pPr>
              <a:defRPr sz="2000">
                <a:latin typeface="Calibri"/>
              </a:defRPr>
            </a:pPr>
            <a:r>
              <a:t>- Mở rộng tính năng: dữ liệu giao thông thời gian thực, đa mục tiêu (thời gian + chi phí)</a:t>
            </a:r>
          </a:p>
          <a:p>
            <a:pPr>
              <a:defRPr sz="2000">
                <a:latin typeface="Calibri"/>
              </a:defRPr>
            </a:pPr>
            <a:r>
              <a:t>- Đào tạo nhân viên sử dụng giao diện Streamlit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Kết luận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latin typeface="Calibri"/>
              </a:defRPr>
            </a:pPr>
            <a:r>
              <a:t>- SA là giải pháp thực tiễn, cân bằng giữa độ chính xác và thời gian tính toán</a:t>
            </a:r>
          </a:p>
          <a:p>
            <a:pPr>
              <a:defRPr sz="2000">
                <a:latin typeface="Calibri"/>
              </a:defRPr>
            </a:pPr>
            <a:r>
              <a:t>- Đã chứng minh giảm chi phí và thời gian đáng kể trong môi trường đô thị</a:t>
            </a:r>
          </a:p>
          <a:p>
            <a:pPr>
              <a:defRPr sz="2000">
                <a:latin typeface="Calibri"/>
              </a:defRPr>
            </a:pPr>
            <a:r>
              <a:t>- Đề xuất triển khai thử nghiệm tại 2‑3 khu vực giao hàng lớn và mở rộng dần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